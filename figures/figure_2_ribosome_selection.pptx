
<file path=[Content_Types].xml><?xml version="1.0" encoding="utf-8"?>
<Types xmlns="http://schemas.openxmlformats.org/package/2006/content-types"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7772400"/>
  <p:notesSz cx="77724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97" d="100"/>
          <a:sy n="297" d="100"/>
        </p:scale>
        <p:origin x="-1480" y="-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50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is the complete editable source for BICS Figure 2. Panel A is composed entirely of native PowerPoint shapes. Panel B values: WT 0.616-0.859; Restrictive 0.713-0.990. Panel C points: (1,0.825), (0.1,0.0465), (0.01,0.00450). Product comparison: restrictive ratio remains lower when U &lt; 3.6.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7406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7406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org&amp;utm_campaign=index&amp;utm_content=thumbnai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143"/>
          <p:cNvSpPr/>
          <p:nvPr/>
        </p:nvSpPr>
        <p:spPr>
          <a:xfrm>
            <a:off x="411479" y="3723757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75" name="Text 173"/>
          <p:cNvSpPr/>
          <p:nvPr/>
        </p:nvSpPr>
        <p:spPr>
          <a:xfrm>
            <a:off x="6522465" y="376033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164207" y="7406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9F060B44-263F-ED41-E935-1FE8DA6A1AAB}"/>
              </a:ext>
            </a:extLst>
          </p:cNvPr>
          <p:cNvGrpSpPr/>
          <p:nvPr/>
        </p:nvGrpSpPr>
        <p:grpSpPr>
          <a:xfrm>
            <a:off x="663746" y="166744"/>
            <a:ext cx="10814876" cy="3236976"/>
            <a:chOff x="1026815" y="274320"/>
            <a:chExt cx="9810830" cy="2807208"/>
          </a:xfrm>
        </p:grpSpPr>
        <p:sp>
          <p:nvSpPr>
            <p:cNvPr id="75" name="Shape 73"/>
            <p:cNvSpPr/>
            <p:nvPr/>
          </p:nvSpPr>
          <p:spPr>
            <a:xfrm>
              <a:off x="5891423" y="274320"/>
              <a:ext cx="2304288" cy="2514600"/>
            </a:xfrm>
            <a:prstGeom prst="roundRect">
              <a:avLst>
                <a:gd name="adj" fmla="val 3175"/>
              </a:avLst>
            </a:prstGeom>
            <a:solidFill>
              <a:srgbClr val="FFF1E0"/>
            </a:solidFill>
            <a:ln w="10160">
              <a:solidFill>
                <a:srgbClr val="E3E6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Shape 4">
              <a:extLst>
                <a:ext uri="{FF2B5EF4-FFF2-40B4-BE49-F238E27FC236}">
                  <a16:creationId xmlns:a16="http://schemas.microsoft.com/office/drawing/2014/main" id="{E6843FA3-A1F9-5F3D-6A24-DAF7F88AB555}"/>
                </a:ext>
              </a:extLst>
            </p:cNvPr>
            <p:cNvSpPr/>
            <p:nvPr/>
          </p:nvSpPr>
          <p:spPr>
            <a:xfrm>
              <a:off x="6155976" y="1762490"/>
              <a:ext cx="1811731" cy="16826"/>
            </a:xfrm>
            <a:prstGeom prst="line">
              <a:avLst/>
            </a:prstGeom>
            <a:noFill/>
            <a:ln w="1778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Shape 5">
              <a:extLst>
                <a:ext uri="{FF2B5EF4-FFF2-40B4-BE49-F238E27FC236}">
                  <a16:creationId xmlns:a16="http://schemas.microsoft.com/office/drawing/2014/main" id="{35518B09-79FA-1639-7FA9-DDE7BB528ADE}"/>
                </a:ext>
              </a:extLst>
            </p:cNvPr>
            <p:cNvSpPr/>
            <p:nvPr/>
          </p:nvSpPr>
          <p:spPr>
            <a:xfrm>
              <a:off x="6655726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Shape 6">
              <a:extLst>
                <a:ext uri="{FF2B5EF4-FFF2-40B4-BE49-F238E27FC236}">
                  <a16:creationId xmlns:a16="http://schemas.microsoft.com/office/drawing/2014/main" id="{46934C35-8B99-6879-0B48-60D394FC14F8}"/>
                </a:ext>
              </a:extLst>
            </p:cNvPr>
            <p:cNvSpPr/>
            <p:nvPr/>
          </p:nvSpPr>
          <p:spPr>
            <a:xfrm>
              <a:off x="6735645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Shape 7">
              <a:extLst>
                <a:ext uri="{FF2B5EF4-FFF2-40B4-BE49-F238E27FC236}">
                  <a16:creationId xmlns:a16="http://schemas.microsoft.com/office/drawing/2014/main" id="{B4AD4126-7579-2029-6E23-CD58610070B3}"/>
                </a:ext>
              </a:extLst>
            </p:cNvPr>
            <p:cNvSpPr/>
            <p:nvPr/>
          </p:nvSpPr>
          <p:spPr>
            <a:xfrm>
              <a:off x="6815563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Shape 8">
              <a:extLst>
                <a:ext uri="{FF2B5EF4-FFF2-40B4-BE49-F238E27FC236}">
                  <a16:creationId xmlns:a16="http://schemas.microsoft.com/office/drawing/2014/main" id="{F76D2E0B-651D-022A-D732-9A6CF4D663B9}"/>
                </a:ext>
              </a:extLst>
            </p:cNvPr>
            <p:cNvSpPr/>
            <p:nvPr/>
          </p:nvSpPr>
          <p:spPr>
            <a:xfrm>
              <a:off x="6895482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Shape 9">
              <a:extLst>
                <a:ext uri="{FF2B5EF4-FFF2-40B4-BE49-F238E27FC236}">
                  <a16:creationId xmlns:a16="http://schemas.microsoft.com/office/drawing/2014/main" id="{453CB313-9222-ED25-1B58-80F4074BB7AA}"/>
                </a:ext>
              </a:extLst>
            </p:cNvPr>
            <p:cNvSpPr/>
            <p:nvPr/>
          </p:nvSpPr>
          <p:spPr>
            <a:xfrm>
              <a:off x="6975400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Shape 10">
              <a:extLst>
                <a:ext uri="{FF2B5EF4-FFF2-40B4-BE49-F238E27FC236}">
                  <a16:creationId xmlns:a16="http://schemas.microsoft.com/office/drawing/2014/main" id="{AA22481C-5171-7D54-94DD-0513667DCA4B}"/>
                </a:ext>
              </a:extLst>
            </p:cNvPr>
            <p:cNvSpPr/>
            <p:nvPr/>
          </p:nvSpPr>
          <p:spPr>
            <a:xfrm>
              <a:off x="7055319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Shape 11">
              <a:extLst>
                <a:ext uri="{FF2B5EF4-FFF2-40B4-BE49-F238E27FC236}">
                  <a16:creationId xmlns:a16="http://schemas.microsoft.com/office/drawing/2014/main" id="{6E03C686-E421-4D59-CF44-A134452DC351}"/>
                </a:ext>
              </a:extLst>
            </p:cNvPr>
            <p:cNvSpPr/>
            <p:nvPr/>
          </p:nvSpPr>
          <p:spPr>
            <a:xfrm>
              <a:off x="7135237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Shape 12">
              <a:extLst>
                <a:ext uri="{FF2B5EF4-FFF2-40B4-BE49-F238E27FC236}">
                  <a16:creationId xmlns:a16="http://schemas.microsoft.com/office/drawing/2014/main" id="{1B881B15-AFC6-4E45-F9D8-3AF4430FE08A}"/>
                </a:ext>
              </a:extLst>
            </p:cNvPr>
            <p:cNvSpPr/>
            <p:nvPr/>
          </p:nvSpPr>
          <p:spPr>
            <a:xfrm>
              <a:off x="7215156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Shape 13">
              <a:extLst>
                <a:ext uri="{FF2B5EF4-FFF2-40B4-BE49-F238E27FC236}">
                  <a16:creationId xmlns:a16="http://schemas.microsoft.com/office/drawing/2014/main" id="{F8DEAAD1-DF79-45A4-0E1B-314DABA5ECAE}"/>
                </a:ext>
              </a:extLst>
            </p:cNvPr>
            <p:cNvSpPr/>
            <p:nvPr/>
          </p:nvSpPr>
          <p:spPr>
            <a:xfrm>
              <a:off x="7295074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Shape 14">
              <a:extLst>
                <a:ext uri="{FF2B5EF4-FFF2-40B4-BE49-F238E27FC236}">
                  <a16:creationId xmlns:a16="http://schemas.microsoft.com/office/drawing/2014/main" id="{2FEE14EF-6B8F-3DB6-4693-B3DC9606EB71}"/>
                </a:ext>
              </a:extLst>
            </p:cNvPr>
            <p:cNvSpPr/>
            <p:nvPr/>
          </p:nvSpPr>
          <p:spPr>
            <a:xfrm>
              <a:off x="7374993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Shape 15">
              <a:extLst>
                <a:ext uri="{FF2B5EF4-FFF2-40B4-BE49-F238E27FC236}">
                  <a16:creationId xmlns:a16="http://schemas.microsoft.com/office/drawing/2014/main" id="{187B5FBC-979A-6BD1-0286-BB609C806C71}"/>
                </a:ext>
              </a:extLst>
            </p:cNvPr>
            <p:cNvSpPr/>
            <p:nvPr/>
          </p:nvSpPr>
          <p:spPr>
            <a:xfrm>
              <a:off x="7454912" y="171201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Shape 16">
              <a:extLst>
                <a:ext uri="{FF2B5EF4-FFF2-40B4-BE49-F238E27FC236}">
                  <a16:creationId xmlns:a16="http://schemas.microsoft.com/office/drawing/2014/main" id="{A3D9F5FF-331A-3DDF-EBE6-7003901F9138}"/>
                </a:ext>
              </a:extLst>
            </p:cNvPr>
            <p:cNvSpPr/>
            <p:nvPr/>
          </p:nvSpPr>
          <p:spPr>
            <a:xfrm>
              <a:off x="6723026" y="1510116"/>
              <a:ext cx="672998" cy="353324"/>
            </a:xfrm>
            <a:prstGeom prst="ellipse">
              <a:avLst/>
            </a:prstGeom>
            <a:solidFill>
              <a:srgbClr val="C7D6E4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Shape 17">
              <a:extLst>
                <a:ext uri="{FF2B5EF4-FFF2-40B4-BE49-F238E27FC236}">
                  <a16:creationId xmlns:a16="http://schemas.microsoft.com/office/drawing/2014/main" id="{A6F4B239-86F2-8861-0684-5A5AA7170CF0}"/>
                </a:ext>
              </a:extLst>
            </p:cNvPr>
            <p:cNvSpPr/>
            <p:nvPr/>
          </p:nvSpPr>
          <p:spPr>
            <a:xfrm>
              <a:off x="6790326" y="1375516"/>
              <a:ext cx="538399" cy="286024"/>
            </a:xfrm>
            <a:prstGeom prst="ellipse">
              <a:avLst/>
            </a:prstGeom>
            <a:solidFill>
              <a:srgbClr val="D9E3EC"/>
            </a:solidFill>
            <a:ln w="1270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Shape 15">
              <a:extLst>
                <a:ext uri="{FF2B5EF4-FFF2-40B4-BE49-F238E27FC236}">
                  <a16:creationId xmlns:a16="http://schemas.microsoft.com/office/drawing/2014/main" id="{B2D09E24-3EDE-8287-8D09-D93500B1AF8D}"/>
                </a:ext>
              </a:extLst>
            </p:cNvPr>
            <p:cNvSpPr/>
            <p:nvPr/>
          </p:nvSpPr>
          <p:spPr>
            <a:xfrm>
              <a:off x="7607312" y="1712019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Shape 15">
              <a:extLst>
                <a:ext uri="{FF2B5EF4-FFF2-40B4-BE49-F238E27FC236}">
                  <a16:creationId xmlns:a16="http://schemas.microsoft.com/office/drawing/2014/main" id="{357F33A8-02BF-3381-5220-3F9A0F6D6815}"/>
                </a:ext>
              </a:extLst>
            </p:cNvPr>
            <p:cNvSpPr/>
            <p:nvPr/>
          </p:nvSpPr>
          <p:spPr>
            <a:xfrm>
              <a:off x="7768675" y="171201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Shape 15">
              <a:extLst>
                <a:ext uri="{FF2B5EF4-FFF2-40B4-BE49-F238E27FC236}">
                  <a16:creationId xmlns:a16="http://schemas.microsoft.com/office/drawing/2014/main" id="{5ED32954-5C45-4127-785F-AB61527029C6}"/>
                </a:ext>
              </a:extLst>
            </p:cNvPr>
            <p:cNvSpPr/>
            <p:nvPr/>
          </p:nvSpPr>
          <p:spPr>
            <a:xfrm>
              <a:off x="7907627" y="171201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Shape 15">
              <a:extLst>
                <a:ext uri="{FF2B5EF4-FFF2-40B4-BE49-F238E27FC236}">
                  <a16:creationId xmlns:a16="http://schemas.microsoft.com/office/drawing/2014/main" id="{AB3A47D7-669C-F86B-811C-0EA32EAA6272}"/>
                </a:ext>
              </a:extLst>
            </p:cNvPr>
            <p:cNvSpPr/>
            <p:nvPr/>
          </p:nvSpPr>
          <p:spPr>
            <a:xfrm>
              <a:off x="6518097" y="171270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Shape 15">
              <a:extLst>
                <a:ext uri="{FF2B5EF4-FFF2-40B4-BE49-F238E27FC236}">
                  <a16:creationId xmlns:a16="http://schemas.microsoft.com/office/drawing/2014/main" id="{173B13DB-9739-9D10-7947-9843D45E5205}"/>
                </a:ext>
              </a:extLst>
            </p:cNvPr>
            <p:cNvSpPr/>
            <p:nvPr/>
          </p:nvSpPr>
          <p:spPr>
            <a:xfrm>
              <a:off x="6365698" y="170822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Shape 15">
              <a:extLst>
                <a:ext uri="{FF2B5EF4-FFF2-40B4-BE49-F238E27FC236}">
                  <a16:creationId xmlns:a16="http://schemas.microsoft.com/office/drawing/2014/main" id="{05CA0162-06D2-8EB9-7ACB-E0666D203EB6}"/>
                </a:ext>
              </a:extLst>
            </p:cNvPr>
            <p:cNvSpPr/>
            <p:nvPr/>
          </p:nvSpPr>
          <p:spPr>
            <a:xfrm>
              <a:off x="6217785" y="1712023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1026815" y="274320"/>
              <a:ext cx="2514600" cy="2514600"/>
            </a:xfrm>
            <a:prstGeom prst="roundRect">
              <a:avLst>
                <a:gd name="adj" fmla="val 2909"/>
              </a:avLst>
            </a:prstGeom>
            <a:solidFill>
              <a:srgbClr val="F3F3F3"/>
            </a:solidFill>
            <a:ln w="10160">
              <a:solidFill>
                <a:srgbClr val="E3E6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1099967" y="395088"/>
              <a:ext cx="236829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3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Original tRNA encounter</a:t>
              </a:r>
              <a:endParaRPr lang="en-US" sz="133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118255" y="2386584"/>
              <a:ext cx="2331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Many tRNAs compete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 the ribosome.</a:t>
              </a:r>
              <a:endParaRPr lang="en-US" sz="9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380566" y="1761858"/>
              <a:ext cx="1913777" cy="0"/>
            </a:xfrm>
            <a:prstGeom prst="line">
              <a:avLst/>
            </a:prstGeom>
            <a:noFill/>
            <a:ln w="1778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1880316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960235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040153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120072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2199990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279909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359827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2439746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2519664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2599583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679502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1947616" y="1509484"/>
              <a:ext cx="672998" cy="353324"/>
            </a:xfrm>
            <a:prstGeom prst="ellipse">
              <a:avLst/>
            </a:prstGeom>
            <a:solidFill>
              <a:srgbClr val="C7D6E4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2014916" y="1374884"/>
              <a:ext cx="538399" cy="286024"/>
            </a:xfrm>
            <a:prstGeom prst="ellipse">
              <a:avLst/>
            </a:prstGeom>
            <a:solidFill>
              <a:srgbClr val="D9E3EC"/>
            </a:solidFill>
            <a:ln w="1270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1529735" y="1127265"/>
              <a:ext cx="0" cy="0"/>
            </a:xfrm>
            <a:prstGeom prst="line">
              <a:avLst/>
            </a:prstGeom>
            <a:noFill/>
            <a:ln w="22911">
              <a:solidFill>
                <a:srgbClr val="0072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2082947" y="935241"/>
              <a:ext cx="0" cy="0"/>
            </a:xfrm>
            <a:prstGeom prst="line">
              <a:avLst/>
            </a:prstGeom>
            <a:noFill/>
            <a:ln w="22911">
              <a:solidFill>
                <a:srgbClr val="0072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3596279" y="1636037"/>
              <a:ext cx="164592" cy="0"/>
            </a:xfrm>
            <a:prstGeom prst="line">
              <a:avLst/>
            </a:prstGeom>
            <a:noFill/>
            <a:ln w="26670">
              <a:solidFill>
                <a:srgbClr val="5B657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3779159" y="274320"/>
              <a:ext cx="1874520" cy="2514600"/>
            </a:xfrm>
            <a:prstGeom prst="roundRect">
              <a:avLst>
                <a:gd name="adj" fmla="val 3902"/>
              </a:avLst>
            </a:prstGeom>
            <a:solidFill>
              <a:srgbClr val="E7F3FB"/>
            </a:solidFill>
            <a:ln w="10160">
              <a:solidFill>
                <a:srgbClr val="E3E6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3852311" y="395088"/>
              <a:ext cx="172821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3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Initial selection</a:t>
              </a:r>
              <a:endParaRPr lang="en-US" sz="133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3870599" y="2242367"/>
              <a:ext cx="1691640" cy="455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Sets which tRNAs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reach proofreading</a:t>
              </a:r>
              <a:endParaRPr lang="en-US" sz="95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341515" y="998152"/>
              <a:ext cx="0" cy="0"/>
            </a:xfrm>
            <a:prstGeom prst="line">
              <a:avLst/>
            </a:prstGeom>
            <a:noFill/>
            <a:ln w="24587">
              <a:solidFill>
                <a:srgbClr val="0072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5053833" y="1089592"/>
              <a:ext cx="0" cy="0"/>
            </a:xfrm>
            <a:prstGeom prst="line">
              <a:avLst/>
            </a:prstGeom>
            <a:noFill/>
            <a:ln w="24587">
              <a:solidFill>
                <a:srgbClr val="E69F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72"/>
            <p:cNvSpPr/>
            <p:nvPr/>
          </p:nvSpPr>
          <p:spPr>
            <a:xfrm>
              <a:off x="5708543" y="1636037"/>
              <a:ext cx="164592" cy="0"/>
            </a:xfrm>
            <a:prstGeom prst="line">
              <a:avLst/>
            </a:prstGeom>
            <a:noFill/>
            <a:ln w="26670">
              <a:solidFill>
                <a:srgbClr val="5B657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74"/>
            <p:cNvSpPr/>
            <p:nvPr/>
          </p:nvSpPr>
          <p:spPr>
            <a:xfrm>
              <a:off x="5964575" y="395088"/>
              <a:ext cx="215798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3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Proofreading</a:t>
              </a:r>
              <a:endParaRPr lang="en-US" sz="133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5982863" y="2199399"/>
              <a:ext cx="2121408" cy="580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Published acceptance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measurements define local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information bounds</a:t>
              </a:r>
              <a:endParaRPr lang="en-US" sz="90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6350600" y="1065569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5B65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Accept</a:t>
              </a:r>
              <a:endParaRPr lang="en-US" sz="82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6661496" y="1202729"/>
              <a:ext cx="146304" cy="182880"/>
            </a:xfrm>
            <a:prstGeom prst="line">
              <a:avLst/>
            </a:prstGeom>
            <a:noFill/>
            <a:ln w="12700">
              <a:solidFill>
                <a:srgbClr val="5B657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104"/>
            <p:cNvSpPr/>
            <p:nvPr/>
          </p:nvSpPr>
          <p:spPr>
            <a:xfrm>
              <a:off x="7534868" y="1085101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Reject</a:t>
              </a:r>
              <a:endParaRPr lang="en-US" sz="82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8250575" y="1636037"/>
              <a:ext cx="164592" cy="0"/>
            </a:xfrm>
            <a:prstGeom prst="line">
              <a:avLst/>
            </a:prstGeom>
            <a:noFill/>
            <a:ln w="26670">
              <a:solidFill>
                <a:srgbClr val="5B657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414485" y="285702"/>
              <a:ext cx="2423160" cy="2514600"/>
            </a:xfrm>
            <a:prstGeom prst="roundRect">
              <a:avLst>
                <a:gd name="adj" fmla="val 3019"/>
              </a:avLst>
            </a:prstGeom>
            <a:solidFill>
              <a:srgbClr val="EAF6EA"/>
            </a:solidFill>
            <a:ln w="10160">
              <a:solidFill>
                <a:srgbClr val="E3E6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108"/>
            <p:cNvSpPr/>
            <p:nvPr/>
          </p:nvSpPr>
          <p:spPr>
            <a:xfrm>
              <a:off x="8506607" y="395088"/>
              <a:ext cx="227685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3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Accepted peptide product</a:t>
              </a:r>
              <a:endParaRPr lang="en-US" sz="133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8524895" y="2215264"/>
              <a:ext cx="2240280" cy="482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Final output depends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 both stages</a:t>
              </a:r>
              <a:endParaRPr lang="en-US" sz="950" dirty="0"/>
            </a:p>
          </p:txBody>
        </p:sp>
        <p:sp>
          <p:nvSpPr>
            <p:cNvPr id="134" name="Shape 132"/>
            <p:cNvSpPr/>
            <p:nvPr/>
          </p:nvSpPr>
          <p:spPr>
            <a:xfrm>
              <a:off x="9939472" y="968525"/>
              <a:ext cx="18288" cy="0"/>
            </a:xfrm>
            <a:prstGeom prst="line">
              <a:avLst/>
            </a:prstGeom>
            <a:noFill/>
            <a:ln w="10160">
              <a:solidFill>
                <a:srgbClr val="7A7A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133"/>
            <p:cNvSpPr/>
            <p:nvPr/>
          </p:nvSpPr>
          <p:spPr>
            <a:xfrm>
              <a:off x="9653739" y="1140333"/>
              <a:ext cx="118872" cy="118872"/>
            </a:xfrm>
            <a:prstGeom prst="ellipse">
              <a:avLst/>
            </a:prstGeom>
            <a:solidFill>
              <a:srgbClr val="F4B35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134"/>
            <p:cNvSpPr/>
            <p:nvPr/>
          </p:nvSpPr>
          <p:spPr>
            <a:xfrm>
              <a:off x="10040056" y="895373"/>
              <a:ext cx="18288" cy="0"/>
            </a:xfrm>
            <a:prstGeom prst="line">
              <a:avLst/>
            </a:prstGeom>
            <a:noFill/>
            <a:ln w="10160">
              <a:solidFill>
                <a:srgbClr val="7A7A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135"/>
            <p:cNvSpPr/>
            <p:nvPr/>
          </p:nvSpPr>
          <p:spPr>
            <a:xfrm>
              <a:off x="9754323" y="1067181"/>
              <a:ext cx="118872" cy="118872"/>
            </a:xfrm>
            <a:prstGeom prst="ellipse">
              <a:avLst/>
            </a:prstGeom>
            <a:solidFill>
              <a:srgbClr val="E46F61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136"/>
            <p:cNvSpPr/>
            <p:nvPr/>
          </p:nvSpPr>
          <p:spPr>
            <a:xfrm>
              <a:off x="10140640" y="822221"/>
              <a:ext cx="18288" cy="0"/>
            </a:xfrm>
            <a:prstGeom prst="line">
              <a:avLst/>
            </a:prstGeom>
            <a:noFill/>
            <a:ln w="10160">
              <a:solidFill>
                <a:srgbClr val="7A7A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37"/>
            <p:cNvSpPr/>
            <p:nvPr/>
          </p:nvSpPr>
          <p:spPr>
            <a:xfrm>
              <a:off x="9854906" y="994029"/>
              <a:ext cx="118872" cy="118872"/>
            </a:xfrm>
            <a:prstGeom prst="ellipse">
              <a:avLst/>
            </a:prstGeom>
            <a:solidFill>
              <a:srgbClr val="D84F7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38"/>
            <p:cNvSpPr/>
            <p:nvPr/>
          </p:nvSpPr>
          <p:spPr>
            <a:xfrm>
              <a:off x="10241224" y="749069"/>
              <a:ext cx="18288" cy="0"/>
            </a:xfrm>
            <a:prstGeom prst="line">
              <a:avLst/>
            </a:prstGeom>
            <a:noFill/>
            <a:ln w="10160">
              <a:solidFill>
                <a:srgbClr val="7A7A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140"/>
            <p:cNvSpPr/>
            <p:nvPr/>
          </p:nvSpPr>
          <p:spPr>
            <a:xfrm>
              <a:off x="4455815" y="2852928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4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Cognate Phe-tRNA</a:t>
              </a:r>
              <a:endParaRPr lang="en-US" sz="1140" dirty="0"/>
            </a:p>
          </p:txBody>
        </p:sp>
        <p:sp>
          <p:nvSpPr>
            <p:cNvPr id="144" name="Text 142"/>
            <p:cNvSpPr/>
            <p:nvPr/>
          </p:nvSpPr>
          <p:spPr>
            <a:xfrm>
              <a:off x="6512840" y="2852928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4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Near-cognate Leu-tRNA</a:t>
              </a:r>
              <a:endParaRPr lang="en-US" sz="1140" dirty="0"/>
            </a:p>
          </p:txBody>
        </p:sp>
        <p:sp>
          <p:nvSpPr>
            <p:cNvPr id="207" name="Shape 15">
              <a:extLst>
                <a:ext uri="{FF2B5EF4-FFF2-40B4-BE49-F238E27FC236}">
                  <a16:creationId xmlns:a16="http://schemas.microsoft.com/office/drawing/2014/main" id="{E9E75184-3BFA-E967-2398-8D283AC7B20E}"/>
                </a:ext>
              </a:extLst>
            </p:cNvPr>
            <p:cNvSpPr/>
            <p:nvPr/>
          </p:nvSpPr>
          <p:spPr>
            <a:xfrm>
              <a:off x="2831902" y="1711387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Shape 15">
              <a:extLst>
                <a:ext uri="{FF2B5EF4-FFF2-40B4-BE49-F238E27FC236}">
                  <a16:creationId xmlns:a16="http://schemas.microsoft.com/office/drawing/2014/main" id="{F9C6C274-1C8F-5509-2E0A-E7709010E4A7}"/>
                </a:ext>
              </a:extLst>
            </p:cNvPr>
            <p:cNvSpPr/>
            <p:nvPr/>
          </p:nvSpPr>
          <p:spPr>
            <a:xfrm>
              <a:off x="2993265" y="171138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Shape 15">
              <a:extLst>
                <a:ext uri="{FF2B5EF4-FFF2-40B4-BE49-F238E27FC236}">
                  <a16:creationId xmlns:a16="http://schemas.microsoft.com/office/drawing/2014/main" id="{EB15C689-5550-5FC6-721F-BB677E61D21D}"/>
                </a:ext>
              </a:extLst>
            </p:cNvPr>
            <p:cNvSpPr/>
            <p:nvPr/>
          </p:nvSpPr>
          <p:spPr>
            <a:xfrm>
              <a:off x="3132217" y="171138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Shape 15">
              <a:extLst>
                <a:ext uri="{FF2B5EF4-FFF2-40B4-BE49-F238E27FC236}">
                  <a16:creationId xmlns:a16="http://schemas.microsoft.com/office/drawing/2014/main" id="{3B393E98-B5B5-E974-17F9-F2231595E7FC}"/>
                </a:ext>
              </a:extLst>
            </p:cNvPr>
            <p:cNvSpPr/>
            <p:nvPr/>
          </p:nvSpPr>
          <p:spPr>
            <a:xfrm>
              <a:off x="1742687" y="1715870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Shape 15">
              <a:extLst>
                <a:ext uri="{FF2B5EF4-FFF2-40B4-BE49-F238E27FC236}">
                  <a16:creationId xmlns:a16="http://schemas.microsoft.com/office/drawing/2014/main" id="{EBD0C133-B3AE-607F-C872-40A9706ECE50}"/>
                </a:ext>
              </a:extLst>
            </p:cNvPr>
            <p:cNvSpPr/>
            <p:nvPr/>
          </p:nvSpPr>
          <p:spPr>
            <a:xfrm>
              <a:off x="1590288" y="1711390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Shape 15">
              <a:extLst>
                <a:ext uri="{FF2B5EF4-FFF2-40B4-BE49-F238E27FC236}">
                  <a16:creationId xmlns:a16="http://schemas.microsoft.com/office/drawing/2014/main" id="{B71C62BD-19D5-0359-35A0-57A1DDD16F6E}"/>
                </a:ext>
              </a:extLst>
            </p:cNvPr>
            <p:cNvSpPr/>
            <p:nvPr/>
          </p:nvSpPr>
          <p:spPr>
            <a:xfrm>
              <a:off x="1442375" y="1711391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294CAB5C-7240-64A4-9AC3-02D9245B5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81342" y="1009824"/>
              <a:ext cx="510826" cy="543519"/>
            </a:xfrm>
            <a:prstGeom prst="rect">
              <a:avLst/>
            </a:prstGeom>
            <a:noFill/>
          </p:spPr>
        </p:pic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7F350EF6-F8D2-D085-0835-9FE86BA2B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670105" y="1870348"/>
              <a:ext cx="482039" cy="512890"/>
            </a:xfrm>
            <a:prstGeom prst="rect">
              <a:avLst/>
            </a:prstGeom>
            <a:noFill/>
          </p:spPr>
        </p:pic>
        <p:pic>
          <p:nvPicPr>
            <p:cNvPr id="217" name="Picture 216">
              <a:extLst>
                <a:ext uri="{FF2B5EF4-FFF2-40B4-BE49-F238E27FC236}">
                  <a16:creationId xmlns:a16="http://schemas.microsoft.com/office/drawing/2014/main" id="{07954190-ADFF-FCF1-BDAF-BF6DF0DF4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18255" y="2082733"/>
              <a:ext cx="480269" cy="511006"/>
            </a:xfrm>
            <a:prstGeom prst="rect">
              <a:avLst/>
            </a:prstGeom>
            <a:noFill/>
          </p:spPr>
        </p:pic>
        <p:pic>
          <p:nvPicPr>
            <p:cNvPr id="218" name="Picture 217">
              <a:extLst>
                <a:ext uri="{FF2B5EF4-FFF2-40B4-BE49-F238E27FC236}">
                  <a16:creationId xmlns:a16="http://schemas.microsoft.com/office/drawing/2014/main" id="{EAF420EF-79A2-ACE1-499A-2CD81122F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637082" y="818412"/>
              <a:ext cx="523000" cy="556472"/>
            </a:xfrm>
            <a:prstGeom prst="rect">
              <a:avLst/>
            </a:prstGeom>
            <a:noFill/>
          </p:spPr>
        </p:pic>
        <p:pic>
          <p:nvPicPr>
            <p:cNvPr id="220" name="Picture 219">
              <a:extLst>
                <a:ext uri="{FF2B5EF4-FFF2-40B4-BE49-F238E27FC236}">
                  <a16:creationId xmlns:a16="http://schemas.microsoft.com/office/drawing/2014/main" id="{0220E802-16E1-65BF-A311-341E1BC24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842991" y="849653"/>
              <a:ext cx="523000" cy="556472"/>
            </a:xfrm>
            <a:prstGeom prst="rect">
              <a:avLst/>
            </a:prstGeom>
            <a:noFill/>
          </p:spPr>
        </p:pic>
        <p:pic>
          <p:nvPicPr>
            <p:cNvPr id="221" name="Picture 220">
              <a:extLst>
                <a:ext uri="{FF2B5EF4-FFF2-40B4-BE49-F238E27FC236}">
                  <a16:creationId xmlns:a16="http://schemas.microsoft.com/office/drawing/2014/main" id="{78991544-89AC-894E-BAA4-C7F06DE60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07576" y="849202"/>
              <a:ext cx="510826" cy="543519"/>
            </a:xfrm>
            <a:prstGeom prst="rect">
              <a:avLst/>
            </a:prstGeom>
            <a:noFill/>
          </p:spPr>
        </p:pic>
        <p:sp>
          <p:nvSpPr>
            <p:cNvPr id="222" name="Shape 4">
              <a:extLst>
                <a:ext uri="{FF2B5EF4-FFF2-40B4-BE49-F238E27FC236}">
                  <a16:creationId xmlns:a16="http://schemas.microsoft.com/office/drawing/2014/main" id="{1DF6CDDB-4121-63DA-519A-D436D43CE9EC}"/>
                </a:ext>
              </a:extLst>
            </p:cNvPr>
            <p:cNvSpPr/>
            <p:nvPr/>
          </p:nvSpPr>
          <p:spPr>
            <a:xfrm>
              <a:off x="3806736" y="1761858"/>
              <a:ext cx="1811731" cy="16826"/>
            </a:xfrm>
            <a:prstGeom prst="line">
              <a:avLst/>
            </a:prstGeom>
            <a:noFill/>
            <a:ln w="1778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Shape 5">
              <a:extLst>
                <a:ext uri="{FF2B5EF4-FFF2-40B4-BE49-F238E27FC236}">
                  <a16:creationId xmlns:a16="http://schemas.microsoft.com/office/drawing/2014/main" id="{D01E026C-3047-FAD7-6C23-5A29C92FBD4F}"/>
                </a:ext>
              </a:extLst>
            </p:cNvPr>
            <p:cNvSpPr/>
            <p:nvPr/>
          </p:nvSpPr>
          <p:spPr>
            <a:xfrm>
              <a:off x="4306486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Shape 6">
              <a:extLst>
                <a:ext uri="{FF2B5EF4-FFF2-40B4-BE49-F238E27FC236}">
                  <a16:creationId xmlns:a16="http://schemas.microsoft.com/office/drawing/2014/main" id="{AD2A4A9E-2C42-EE32-53AF-E92B0D86CA67}"/>
                </a:ext>
              </a:extLst>
            </p:cNvPr>
            <p:cNvSpPr/>
            <p:nvPr/>
          </p:nvSpPr>
          <p:spPr>
            <a:xfrm>
              <a:off x="4386405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Shape 7">
              <a:extLst>
                <a:ext uri="{FF2B5EF4-FFF2-40B4-BE49-F238E27FC236}">
                  <a16:creationId xmlns:a16="http://schemas.microsoft.com/office/drawing/2014/main" id="{41DD2CA7-0A96-1505-EFD3-AD96C56586E0}"/>
                </a:ext>
              </a:extLst>
            </p:cNvPr>
            <p:cNvSpPr/>
            <p:nvPr/>
          </p:nvSpPr>
          <p:spPr>
            <a:xfrm>
              <a:off x="4466323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Shape 8">
              <a:extLst>
                <a:ext uri="{FF2B5EF4-FFF2-40B4-BE49-F238E27FC236}">
                  <a16:creationId xmlns:a16="http://schemas.microsoft.com/office/drawing/2014/main" id="{74F79134-6285-2B74-39BB-2EADD4E19D06}"/>
                </a:ext>
              </a:extLst>
            </p:cNvPr>
            <p:cNvSpPr/>
            <p:nvPr/>
          </p:nvSpPr>
          <p:spPr>
            <a:xfrm>
              <a:off x="4546242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Shape 9">
              <a:extLst>
                <a:ext uri="{FF2B5EF4-FFF2-40B4-BE49-F238E27FC236}">
                  <a16:creationId xmlns:a16="http://schemas.microsoft.com/office/drawing/2014/main" id="{B9D74C85-8ADA-7410-AC19-DD0DB1F2458E}"/>
                </a:ext>
              </a:extLst>
            </p:cNvPr>
            <p:cNvSpPr/>
            <p:nvPr/>
          </p:nvSpPr>
          <p:spPr>
            <a:xfrm>
              <a:off x="4626160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Shape 10">
              <a:extLst>
                <a:ext uri="{FF2B5EF4-FFF2-40B4-BE49-F238E27FC236}">
                  <a16:creationId xmlns:a16="http://schemas.microsoft.com/office/drawing/2014/main" id="{804E3C4E-C1DD-A7EE-B942-846B8DBB5C44}"/>
                </a:ext>
              </a:extLst>
            </p:cNvPr>
            <p:cNvSpPr/>
            <p:nvPr/>
          </p:nvSpPr>
          <p:spPr>
            <a:xfrm>
              <a:off x="4706079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Shape 11">
              <a:extLst>
                <a:ext uri="{FF2B5EF4-FFF2-40B4-BE49-F238E27FC236}">
                  <a16:creationId xmlns:a16="http://schemas.microsoft.com/office/drawing/2014/main" id="{9FCC206D-0D0A-63F3-DF16-74C8777BEFFF}"/>
                </a:ext>
              </a:extLst>
            </p:cNvPr>
            <p:cNvSpPr/>
            <p:nvPr/>
          </p:nvSpPr>
          <p:spPr>
            <a:xfrm>
              <a:off x="4785997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Shape 12">
              <a:extLst>
                <a:ext uri="{FF2B5EF4-FFF2-40B4-BE49-F238E27FC236}">
                  <a16:creationId xmlns:a16="http://schemas.microsoft.com/office/drawing/2014/main" id="{24B146A2-A868-E539-4B65-D26B561EBF5E}"/>
                </a:ext>
              </a:extLst>
            </p:cNvPr>
            <p:cNvSpPr/>
            <p:nvPr/>
          </p:nvSpPr>
          <p:spPr>
            <a:xfrm>
              <a:off x="4865916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Shape 13">
              <a:extLst>
                <a:ext uri="{FF2B5EF4-FFF2-40B4-BE49-F238E27FC236}">
                  <a16:creationId xmlns:a16="http://schemas.microsoft.com/office/drawing/2014/main" id="{9548BB58-700F-ABD8-B49A-BE2246F0FD85}"/>
                </a:ext>
              </a:extLst>
            </p:cNvPr>
            <p:cNvSpPr/>
            <p:nvPr/>
          </p:nvSpPr>
          <p:spPr>
            <a:xfrm>
              <a:off x="4945834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Shape 14">
              <a:extLst>
                <a:ext uri="{FF2B5EF4-FFF2-40B4-BE49-F238E27FC236}">
                  <a16:creationId xmlns:a16="http://schemas.microsoft.com/office/drawing/2014/main" id="{5C2235E9-DA1E-EAC0-83BB-01A13B197B6D}"/>
                </a:ext>
              </a:extLst>
            </p:cNvPr>
            <p:cNvSpPr/>
            <p:nvPr/>
          </p:nvSpPr>
          <p:spPr>
            <a:xfrm>
              <a:off x="5025753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Shape 15">
              <a:extLst>
                <a:ext uri="{FF2B5EF4-FFF2-40B4-BE49-F238E27FC236}">
                  <a16:creationId xmlns:a16="http://schemas.microsoft.com/office/drawing/2014/main" id="{8E4C62E6-DBA4-8B89-5975-46951EF26954}"/>
                </a:ext>
              </a:extLst>
            </p:cNvPr>
            <p:cNvSpPr/>
            <p:nvPr/>
          </p:nvSpPr>
          <p:spPr>
            <a:xfrm>
              <a:off x="5105672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Shape 16">
              <a:extLst>
                <a:ext uri="{FF2B5EF4-FFF2-40B4-BE49-F238E27FC236}">
                  <a16:creationId xmlns:a16="http://schemas.microsoft.com/office/drawing/2014/main" id="{7580BBF5-DCBE-6171-394E-2C123AEC88A3}"/>
                </a:ext>
              </a:extLst>
            </p:cNvPr>
            <p:cNvSpPr/>
            <p:nvPr/>
          </p:nvSpPr>
          <p:spPr>
            <a:xfrm>
              <a:off x="4373786" y="1509484"/>
              <a:ext cx="672998" cy="353324"/>
            </a:xfrm>
            <a:prstGeom prst="ellipse">
              <a:avLst/>
            </a:prstGeom>
            <a:solidFill>
              <a:srgbClr val="C7D6E4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Shape 17">
              <a:extLst>
                <a:ext uri="{FF2B5EF4-FFF2-40B4-BE49-F238E27FC236}">
                  <a16:creationId xmlns:a16="http://schemas.microsoft.com/office/drawing/2014/main" id="{9473EDFD-6DB3-3F03-7EDA-9E113EDD614F}"/>
                </a:ext>
              </a:extLst>
            </p:cNvPr>
            <p:cNvSpPr/>
            <p:nvPr/>
          </p:nvSpPr>
          <p:spPr>
            <a:xfrm>
              <a:off x="4441086" y="1374884"/>
              <a:ext cx="538399" cy="286024"/>
            </a:xfrm>
            <a:prstGeom prst="ellipse">
              <a:avLst/>
            </a:prstGeom>
            <a:solidFill>
              <a:srgbClr val="D9E3EC"/>
            </a:solidFill>
            <a:ln w="1270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Shape 15">
              <a:extLst>
                <a:ext uri="{FF2B5EF4-FFF2-40B4-BE49-F238E27FC236}">
                  <a16:creationId xmlns:a16="http://schemas.microsoft.com/office/drawing/2014/main" id="{DA9F3EBC-FDC4-95A6-EEDF-14E1334B9B99}"/>
                </a:ext>
              </a:extLst>
            </p:cNvPr>
            <p:cNvSpPr/>
            <p:nvPr/>
          </p:nvSpPr>
          <p:spPr>
            <a:xfrm>
              <a:off x="5258072" y="1711387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Shape 15">
              <a:extLst>
                <a:ext uri="{FF2B5EF4-FFF2-40B4-BE49-F238E27FC236}">
                  <a16:creationId xmlns:a16="http://schemas.microsoft.com/office/drawing/2014/main" id="{DF10A33A-5919-D893-F906-495F4DB8C1DB}"/>
                </a:ext>
              </a:extLst>
            </p:cNvPr>
            <p:cNvSpPr/>
            <p:nvPr/>
          </p:nvSpPr>
          <p:spPr>
            <a:xfrm>
              <a:off x="5419435" y="171138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Shape 15">
              <a:extLst>
                <a:ext uri="{FF2B5EF4-FFF2-40B4-BE49-F238E27FC236}">
                  <a16:creationId xmlns:a16="http://schemas.microsoft.com/office/drawing/2014/main" id="{4D06292C-56A2-77C9-70DD-3F257DEC1822}"/>
                </a:ext>
              </a:extLst>
            </p:cNvPr>
            <p:cNvSpPr/>
            <p:nvPr/>
          </p:nvSpPr>
          <p:spPr>
            <a:xfrm>
              <a:off x="5558387" y="171138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Shape 15">
              <a:extLst>
                <a:ext uri="{FF2B5EF4-FFF2-40B4-BE49-F238E27FC236}">
                  <a16:creationId xmlns:a16="http://schemas.microsoft.com/office/drawing/2014/main" id="{2405608D-A943-9425-1043-78B9507504AE}"/>
                </a:ext>
              </a:extLst>
            </p:cNvPr>
            <p:cNvSpPr/>
            <p:nvPr/>
          </p:nvSpPr>
          <p:spPr>
            <a:xfrm>
              <a:off x="4168857" y="171207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Shape 15">
              <a:extLst>
                <a:ext uri="{FF2B5EF4-FFF2-40B4-BE49-F238E27FC236}">
                  <a16:creationId xmlns:a16="http://schemas.microsoft.com/office/drawing/2014/main" id="{675528B4-2880-4494-D95D-58A3DB7F6B6B}"/>
                </a:ext>
              </a:extLst>
            </p:cNvPr>
            <p:cNvSpPr/>
            <p:nvPr/>
          </p:nvSpPr>
          <p:spPr>
            <a:xfrm>
              <a:off x="4016458" y="1707596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Shape 15">
              <a:extLst>
                <a:ext uri="{FF2B5EF4-FFF2-40B4-BE49-F238E27FC236}">
                  <a16:creationId xmlns:a16="http://schemas.microsoft.com/office/drawing/2014/main" id="{A6731F22-0EC2-4104-AC36-D13B9CCC835C}"/>
                </a:ext>
              </a:extLst>
            </p:cNvPr>
            <p:cNvSpPr/>
            <p:nvPr/>
          </p:nvSpPr>
          <p:spPr>
            <a:xfrm>
              <a:off x="3868545" y="1711391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EBAF0592-5B50-6EDF-D429-8CCAEBAFF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494784" y="888087"/>
              <a:ext cx="510826" cy="543519"/>
            </a:xfrm>
            <a:prstGeom prst="rect">
              <a:avLst/>
            </a:prstGeom>
            <a:noFill/>
          </p:spPr>
        </p:pic>
        <p:pic>
          <p:nvPicPr>
            <p:cNvPr id="244" name="Picture 243">
              <a:extLst>
                <a:ext uri="{FF2B5EF4-FFF2-40B4-BE49-F238E27FC236}">
                  <a16:creationId xmlns:a16="http://schemas.microsoft.com/office/drawing/2014/main" id="{651EADD0-9F3F-B650-E5FF-A567BAF07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00822" y="1225230"/>
              <a:ext cx="523000" cy="556472"/>
            </a:xfrm>
            <a:prstGeom prst="rect">
              <a:avLst/>
            </a:prstGeom>
            <a:noFill/>
          </p:spPr>
        </p:pic>
        <p:sp>
          <p:nvSpPr>
            <p:cNvPr id="246" name="Shape 130">
              <a:extLst>
                <a:ext uri="{FF2B5EF4-FFF2-40B4-BE49-F238E27FC236}">
                  <a16:creationId xmlns:a16="http://schemas.microsoft.com/office/drawing/2014/main" id="{2E99C32F-5661-40E3-C974-7F32B2321FE6}"/>
                </a:ext>
              </a:extLst>
            </p:cNvPr>
            <p:cNvSpPr/>
            <p:nvPr/>
          </p:nvSpPr>
          <p:spPr>
            <a:xfrm>
              <a:off x="6963465" y="1191852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Shape 130">
              <a:extLst>
                <a:ext uri="{FF2B5EF4-FFF2-40B4-BE49-F238E27FC236}">
                  <a16:creationId xmlns:a16="http://schemas.microsoft.com/office/drawing/2014/main" id="{806AEF98-D67C-B49C-A7B3-AC0990C376BE}"/>
                </a:ext>
              </a:extLst>
            </p:cNvPr>
            <p:cNvSpPr/>
            <p:nvPr/>
          </p:nvSpPr>
          <p:spPr>
            <a:xfrm>
              <a:off x="4969251" y="822221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Shape 135">
              <a:extLst>
                <a:ext uri="{FF2B5EF4-FFF2-40B4-BE49-F238E27FC236}">
                  <a16:creationId xmlns:a16="http://schemas.microsoft.com/office/drawing/2014/main" id="{05D54A44-D2BD-C37F-1880-576CAC60087C}"/>
                </a:ext>
              </a:extLst>
            </p:cNvPr>
            <p:cNvSpPr/>
            <p:nvPr/>
          </p:nvSpPr>
          <p:spPr>
            <a:xfrm>
              <a:off x="7650120" y="851113"/>
              <a:ext cx="118872" cy="118872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Shape 135">
              <a:extLst>
                <a:ext uri="{FF2B5EF4-FFF2-40B4-BE49-F238E27FC236}">
                  <a16:creationId xmlns:a16="http://schemas.microsoft.com/office/drawing/2014/main" id="{4D1150CD-C30C-4D9B-2F92-66588AD86027}"/>
                </a:ext>
              </a:extLst>
            </p:cNvPr>
            <p:cNvSpPr/>
            <p:nvPr/>
          </p:nvSpPr>
          <p:spPr>
            <a:xfrm>
              <a:off x="1433392" y="995957"/>
              <a:ext cx="118872" cy="118872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Shape 135">
              <a:extLst>
                <a:ext uri="{FF2B5EF4-FFF2-40B4-BE49-F238E27FC236}">
                  <a16:creationId xmlns:a16="http://schemas.microsoft.com/office/drawing/2014/main" id="{7007FD95-1656-FE08-29CE-31270E064C06}"/>
                </a:ext>
              </a:extLst>
            </p:cNvPr>
            <p:cNvSpPr/>
            <p:nvPr/>
          </p:nvSpPr>
          <p:spPr>
            <a:xfrm>
              <a:off x="4137312" y="803324"/>
              <a:ext cx="118872" cy="118872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Shape 135">
              <a:extLst>
                <a:ext uri="{FF2B5EF4-FFF2-40B4-BE49-F238E27FC236}">
                  <a16:creationId xmlns:a16="http://schemas.microsoft.com/office/drawing/2014/main" id="{191F1C92-6714-901D-D4F6-12368D1CD996}"/>
                </a:ext>
              </a:extLst>
            </p:cNvPr>
            <p:cNvSpPr/>
            <p:nvPr/>
          </p:nvSpPr>
          <p:spPr>
            <a:xfrm>
              <a:off x="1261694" y="2014233"/>
              <a:ext cx="118872" cy="118872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Shape 135">
              <a:extLst>
                <a:ext uri="{FF2B5EF4-FFF2-40B4-BE49-F238E27FC236}">
                  <a16:creationId xmlns:a16="http://schemas.microsoft.com/office/drawing/2014/main" id="{612DE063-7502-32C4-9F50-83206960ABF4}"/>
                </a:ext>
              </a:extLst>
            </p:cNvPr>
            <p:cNvSpPr/>
            <p:nvPr/>
          </p:nvSpPr>
          <p:spPr>
            <a:xfrm>
              <a:off x="1772501" y="1771803"/>
              <a:ext cx="118872" cy="118872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Shape 130">
              <a:extLst>
                <a:ext uri="{FF2B5EF4-FFF2-40B4-BE49-F238E27FC236}">
                  <a16:creationId xmlns:a16="http://schemas.microsoft.com/office/drawing/2014/main" id="{E065E9DC-CC89-BBEC-908B-A40BFB904A92}"/>
                </a:ext>
              </a:extLst>
            </p:cNvPr>
            <p:cNvSpPr/>
            <p:nvPr/>
          </p:nvSpPr>
          <p:spPr>
            <a:xfrm>
              <a:off x="2797551" y="796761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Shape 130">
              <a:extLst>
                <a:ext uri="{FF2B5EF4-FFF2-40B4-BE49-F238E27FC236}">
                  <a16:creationId xmlns:a16="http://schemas.microsoft.com/office/drawing/2014/main" id="{EB0DDD03-02C5-C2E8-F069-94EF7D247052}"/>
                </a:ext>
              </a:extLst>
            </p:cNvPr>
            <p:cNvSpPr/>
            <p:nvPr/>
          </p:nvSpPr>
          <p:spPr>
            <a:xfrm>
              <a:off x="4254647" y="2907792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Shape 4">
              <a:extLst>
                <a:ext uri="{FF2B5EF4-FFF2-40B4-BE49-F238E27FC236}">
                  <a16:creationId xmlns:a16="http://schemas.microsoft.com/office/drawing/2014/main" id="{3A76921A-CC53-1D97-AA51-8755D8CFDAE4}"/>
                </a:ext>
              </a:extLst>
            </p:cNvPr>
            <p:cNvSpPr/>
            <p:nvPr/>
          </p:nvSpPr>
          <p:spPr>
            <a:xfrm>
              <a:off x="8744251" y="1774504"/>
              <a:ext cx="1811731" cy="16826"/>
            </a:xfrm>
            <a:prstGeom prst="line">
              <a:avLst/>
            </a:prstGeom>
            <a:noFill/>
            <a:ln w="1778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Shape 15">
              <a:extLst>
                <a:ext uri="{FF2B5EF4-FFF2-40B4-BE49-F238E27FC236}">
                  <a16:creationId xmlns:a16="http://schemas.microsoft.com/office/drawing/2014/main" id="{6E36E17B-1D63-7EB5-0421-7B05A562BF56}"/>
                </a:ext>
              </a:extLst>
            </p:cNvPr>
            <p:cNvSpPr/>
            <p:nvPr/>
          </p:nvSpPr>
          <p:spPr>
            <a:xfrm>
              <a:off x="9106372" y="172092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Shape 15">
              <a:extLst>
                <a:ext uri="{FF2B5EF4-FFF2-40B4-BE49-F238E27FC236}">
                  <a16:creationId xmlns:a16="http://schemas.microsoft.com/office/drawing/2014/main" id="{BC723697-13D6-EC0C-C820-13B54307ADE3}"/>
                </a:ext>
              </a:extLst>
            </p:cNvPr>
            <p:cNvSpPr/>
            <p:nvPr/>
          </p:nvSpPr>
          <p:spPr>
            <a:xfrm>
              <a:off x="8953973" y="171644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Shape 15">
              <a:extLst>
                <a:ext uri="{FF2B5EF4-FFF2-40B4-BE49-F238E27FC236}">
                  <a16:creationId xmlns:a16="http://schemas.microsoft.com/office/drawing/2014/main" id="{45E8BA4D-4949-B7B4-49ED-DBA41AF4BA00}"/>
                </a:ext>
              </a:extLst>
            </p:cNvPr>
            <p:cNvSpPr/>
            <p:nvPr/>
          </p:nvSpPr>
          <p:spPr>
            <a:xfrm>
              <a:off x="8806060" y="1720243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111"/>
            <p:cNvSpPr/>
            <p:nvPr/>
          </p:nvSpPr>
          <p:spPr>
            <a:xfrm>
              <a:off x="9241236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112"/>
            <p:cNvSpPr/>
            <p:nvPr/>
          </p:nvSpPr>
          <p:spPr>
            <a:xfrm>
              <a:off x="9321155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113"/>
            <p:cNvSpPr/>
            <p:nvPr/>
          </p:nvSpPr>
          <p:spPr>
            <a:xfrm>
              <a:off x="9401073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Shape 114"/>
            <p:cNvSpPr/>
            <p:nvPr/>
          </p:nvSpPr>
          <p:spPr>
            <a:xfrm>
              <a:off x="9480992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Shape 115"/>
            <p:cNvSpPr/>
            <p:nvPr/>
          </p:nvSpPr>
          <p:spPr>
            <a:xfrm>
              <a:off x="9560910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116"/>
            <p:cNvSpPr/>
            <p:nvPr/>
          </p:nvSpPr>
          <p:spPr>
            <a:xfrm>
              <a:off x="9640829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117"/>
            <p:cNvSpPr/>
            <p:nvPr/>
          </p:nvSpPr>
          <p:spPr>
            <a:xfrm>
              <a:off x="9720747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118"/>
            <p:cNvSpPr/>
            <p:nvPr/>
          </p:nvSpPr>
          <p:spPr>
            <a:xfrm>
              <a:off x="9800666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119"/>
            <p:cNvSpPr/>
            <p:nvPr/>
          </p:nvSpPr>
          <p:spPr>
            <a:xfrm>
              <a:off x="9880584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120"/>
            <p:cNvSpPr/>
            <p:nvPr/>
          </p:nvSpPr>
          <p:spPr>
            <a:xfrm>
              <a:off x="9960503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121"/>
            <p:cNvSpPr/>
            <p:nvPr/>
          </p:nvSpPr>
          <p:spPr>
            <a:xfrm>
              <a:off x="10040422" y="1711384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Shape 122"/>
            <p:cNvSpPr/>
            <p:nvPr/>
          </p:nvSpPr>
          <p:spPr>
            <a:xfrm>
              <a:off x="9308536" y="1509484"/>
              <a:ext cx="672998" cy="353324"/>
            </a:xfrm>
            <a:prstGeom prst="ellipse">
              <a:avLst/>
            </a:prstGeom>
            <a:solidFill>
              <a:srgbClr val="C7D6E4"/>
            </a:solidFill>
            <a:ln w="1778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123"/>
            <p:cNvSpPr/>
            <p:nvPr/>
          </p:nvSpPr>
          <p:spPr>
            <a:xfrm>
              <a:off x="9375836" y="1374884"/>
              <a:ext cx="538399" cy="286024"/>
            </a:xfrm>
            <a:prstGeom prst="ellipse">
              <a:avLst/>
            </a:prstGeom>
            <a:solidFill>
              <a:srgbClr val="D9E3EC"/>
            </a:solidFill>
            <a:ln w="1778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3347E2BE-CA96-0F31-C5A4-26B07709F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394534" y="1246566"/>
              <a:ext cx="523000" cy="556472"/>
            </a:xfrm>
            <a:prstGeom prst="rect">
              <a:avLst/>
            </a:prstGeom>
            <a:noFill/>
          </p:spPr>
        </p:pic>
        <p:sp>
          <p:nvSpPr>
            <p:cNvPr id="291" name="Shape 15">
              <a:extLst>
                <a:ext uri="{FF2B5EF4-FFF2-40B4-BE49-F238E27FC236}">
                  <a16:creationId xmlns:a16="http://schemas.microsoft.com/office/drawing/2014/main" id="{BC3CF981-70BA-644B-B2B3-C35DBA197B90}"/>
                </a:ext>
              </a:extLst>
            </p:cNvPr>
            <p:cNvSpPr/>
            <p:nvPr/>
          </p:nvSpPr>
          <p:spPr>
            <a:xfrm>
              <a:off x="10195587" y="1720239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Shape 15">
              <a:extLst>
                <a:ext uri="{FF2B5EF4-FFF2-40B4-BE49-F238E27FC236}">
                  <a16:creationId xmlns:a16="http://schemas.microsoft.com/office/drawing/2014/main" id="{D56C4059-3960-73CE-FE3D-FB23D221B3E7}"/>
                </a:ext>
              </a:extLst>
            </p:cNvPr>
            <p:cNvSpPr/>
            <p:nvPr/>
          </p:nvSpPr>
          <p:spPr>
            <a:xfrm>
              <a:off x="10356950" y="172023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Shape 15">
              <a:extLst>
                <a:ext uri="{FF2B5EF4-FFF2-40B4-BE49-F238E27FC236}">
                  <a16:creationId xmlns:a16="http://schemas.microsoft.com/office/drawing/2014/main" id="{20E9282E-9C1C-F600-AE98-8547C021C98C}"/>
                </a:ext>
              </a:extLst>
            </p:cNvPr>
            <p:cNvSpPr/>
            <p:nvPr/>
          </p:nvSpPr>
          <p:spPr>
            <a:xfrm>
              <a:off x="10495902" y="1720238"/>
              <a:ext cx="0" cy="67300"/>
            </a:xfrm>
            <a:prstGeom prst="line">
              <a:avLst/>
            </a:prstGeom>
            <a:noFill/>
            <a:ln w="11430">
              <a:solidFill>
                <a:srgbClr val="617B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Shape 135">
              <a:extLst>
                <a:ext uri="{FF2B5EF4-FFF2-40B4-BE49-F238E27FC236}">
                  <a16:creationId xmlns:a16="http://schemas.microsoft.com/office/drawing/2014/main" id="{2C2B5166-9C0B-E49D-29CF-A00E73FCE3E2}"/>
                </a:ext>
              </a:extLst>
            </p:cNvPr>
            <p:cNvSpPr/>
            <p:nvPr/>
          </p:nvSpPr>
          <p:spPr>
            <a:xfrm>
              <a:off x="6328632" y="2905272"/>
              <a:ext cx="118872" cy="118872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00" name="Picture 299">
              <a:extLst>
                <a:ext uri="{FF2B5EF4-FFF2-40B4-BE49-F238E27FC236}">
                  <a16:creationId xmlns:a16="http://schemas.microsoft.com/office/drawing/2014/main" id="{8BB79BE8-D4B9-75E8-C7DA-5108F4C6B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908554" y="1951799"/>
              <a:ext cx="523000" cy="556472"/>
            </a:xfrm>
            <a:prstGeom prst="rect">
              <a:avLst/>
            </a:prstGeom>
            <a:noFill/>
          </p:spPr>
        </p:pic>
        <p:sp>
          <p:nvSpPr>
            <p:cNvPr id="301" name="Shape 130">
              <a:extLst>
                <a:ext uri="{FF2B5EF4-FFF2-40B4-BE49-F238E27FC236}">
                  <a16:creationId xmlns:a16="http://schemas.microsoft.com/office/drawing/2014/main" id="{7D587A31-4A7A-0FA3-0910-83569D37BD74}"/>
                </a:ext>
              </a:extLst>
            </p:cNvPr>
            <p:cNvSpPr/>
            <p:nvPr/>
          </p:nvSpPr>
          <p:spPr>
            <a:xfrm>
              <a:off x="3069023" y="1930148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02" name="Picture 301">
              <a:extLst>
                <a:ext uri="{FF2B5EF4-FFF2-40B4-BE49-F238E27FC236}">
                  <a16:creationId xmlns:a16="http://schemas.microsoft.com/office/drawing/2014/main" id="{8C3D2028-8E40-A8AE-53C2-AFCE46C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874525" y="706637"/>
              <a:ext cx="523000" cy="556472"/>
            </a:xfrm>
            <a:prstGeom prst="rect">
              <a:avLst/>
            </a:prstGeom>
            <a:noFill/>
          </p:spPr>
        </p:pic>
        <p:sp>
          <p:nvSpPr>
            <p:cNvPr id="303" name="Shape 130">
              <a:extLst>
                <a:ext uri="{FF2B5EF4-FFF2-40B4-BE49-F238E27FC236}">
                  <a16:creationId xmlns:a16="http://schemas.microsoft.com/office/drawing/2014/main" id="{171638F6-3368-F9B6-640D-5FA48F49FE26}"/>
                </a:ext>
              </a:extLst>
            </p:cNvPr>
            <p:cNvSpPr/>
            <p:nvPr/>
          </p:nvSpPr>
          <p:spPr>
            <a:xfrm>
              <a:off x="2034994" y="684986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131"/>
            <p:cNvSpPr/>
            <p:nvPr/>
          </p:nvSpPr>
          <p:spPr>
            <a:xfrm>
              <a:off x="9553156" y="1213485"/>
              <a:ext cx="118872" cy="118872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6B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5" name="Picture 304">
            <a:extLst>
              <a:ext uri="{FF2B5EF4-FFF2-40B4-BE49-F238E27FC236}">
                <a16:creationId xmlns:a16="http://schemas.microsoft.com/office/drawing/2014/main" id="{88182B5B-A372-0364-84B5-5E2679DFEA9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9946"/>
          <a:stretch>
            <a:fillRect/>
          </a:stretch>
        </p:blipFill>
        <p:spPr>
          <a:xfrm>
            <a:off x="285132" y="3570463"/>
            <a:ext cx="5737516" cy="3917921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047C6390-0971-8290-4B3C-ED1BBD10672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1936"/>
          <a:stretch>
            <a:fillRect/>
          </a:stretch>
        </p:blipFill>
        <p:spPr>
          <a:xfrm>
            <a:off x="6358469" y="3570463"/>
            <a:ext cx="5583416" cy="386937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51459" y="204947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102</Words>
  <Application>Microsoft Macintosh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Children's Hospital of Philadelphia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BICS Figure 2 - Ribosomal tRNA selection</dc:title>
  <dc:subject>Editable assembly source for BICS Figure 2</dc:subject>
  <dc:creator>Deanne M. Taylor</dc:creator>
  <cp:lastModifiedBy>Taylor, Deanne M</cp:lastModifiedBy>
  <cp:revision>4</cp:revision>
  <dcterms:created xsi:type="dcterms:W3CDTF">2026-10-09T18:20:58Z</dcterms:created>
  <dcterms:modified xsi:type="dcterms:W3CDTF">2026-10-10T02:03:42Z</dcterms:modified>
</cp:coreProperties>
</file>