
<file path=[Content_Types].xml><?xml version="1.0" encoding="utf-8"?>
<Types xmlns="http://schemas.openxmlformats.org/package/2006/content-types">
  <Default Extension="org&amp;utm_campaign=index&amp;utm_content=thumbnail" ContentType="image/pn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7772400"/>
  <p:notesSz cx="77724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4610"/>
  </p:normalViewPr>
  <p:slideViewPr>
    <p:cSldViewPr snapToGrid="0" snapToObjects="1">
      <p:cViewPr>
        <p:scale>
          <a:sx n="95" d="100"/>
          <a:sy n="95" d="100"/>
        </p:scale>
        <p:origin x="552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1508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 is the complete editable source for BICS Figure 2. Panel A is composed entirely of native PowerPoint shapes. Panel B values: WT 0.616-0.859; Restrictive 0.713-0.990. Panel C points: (1,0.825), (0.1,0.0465), (0.01,0.00450). Product comparison: restrictive ratio remains lower when U &lt; 3.6.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GURE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7406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7406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org&amp;utm_campaign=index&amp;utm_content=thumbnail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 143"/>
          <p:cNvSpPr/>
          <p:nvPr/>
        </p:nvSpPr>
        <p:spPr>
          <a:xfrm>
            <a:off x="411479" y="3723757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175" name="Text 173"/>
          <p:cNvSpPr/>
          <p:nvPr/>
        </p:nvSpPr>
        <p:spPr>
          <a:xfrm>
            <a:off x="6522465" y="3760333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000" dirty="0"/>
          </a:p>
        </p:txBody>
      </p:sp>
      <p:sp>
        <p:nvSpPr>
          <p:cNvPr id="20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2164207" y="7406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  <p:grpSp>
        <p:nvGrpSpPr>
          <p:cNvPr id="309" name="Group 308">
            <a:extLst>
              <a:ext uri="{FF2B5EF4-FFF2-40B4-BE49-F238E27FC236}">
                <a16:creationId xmlns:a16="http://schemas.microsoft.com/office/drawing/2014/main" id="{9F060B44-263F-ED41-E935-1FE8DA6A1AAB}"/>
              </a:ext>
            </a:extLst>
          </p:cNvPr>
          <p:cNvGrpSpPr/>
          <p:nvPr/>
        </p:nvGrpSpPr>
        <p:grpSpPr>
          <a:xfrm>
            <a:off x="663746" y="166744"/>
            <a:ext cx="10814876" cy="3236976"/>
            <a:chOff x="1026815" y="274320"/>
            <a:chExt cx="9810830" cy="2807208"/>
          </a:xfrm>
        </p:grpSpPr>
        <p:sp>
          <p:nvSpPr>
            <p:cNvPr id="75" name="Shape 73"/>
            <p:cNvSpPr/>
            <p:nvPr/>
          </p:nvSpPr>
          <p:spPr>
            <a:xfrm>
              <a:off x="5891423" y="274320"/>
              <a:ext cx="2304288" cy="2514600"/>
            </a:xfrm>
            <a:prstGeom prst="roundRect">
              <a:avLst>
                <a:gd name="adj" fmla="val 3175"/>
              </a:avLst>
            </a:prstGeom>
            <a:solidFill>
              <a:srgbClr val="FFF1E0"/>
            </a:solidFill>
            <a:ln w="10160">
              <a:solidFill>
                <a:srgbClr val="E3E6E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" name="Shape 4">
              <a:extLst>
                <a:ext uri="{FF2B5EF4-FFF2-40B4-BE49-F238E27FC236}">
                  <a16:creationId xmlns:a16="http://schemas.microsoft.com/office/drawing/2014/main" id="{E6843FA3-A1F9-5F3D-6A24-DAF7F88AB555}"/>
                </a:ext>
              </a:extLst>
            </p:cNvPr>
            <p:cNvSpPr/>
            <p:nvPr/>
          </p:nvSpPr>
          <p:spPr>
            <a:xfrm>
              <a:off x="6155976" y="1762490"/>
              <a:ext cx="1811731" cy="16826"/>
            </a:xfrm>
            <a:prstGeom prst="line">
              <a:avLst/>
            </a:prstGeom>
            <a:noFill/>
            <a:ln w="1778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" name="Shape 5">
              <a:extLst>
                <a:ext uri="{FF2B5EF4-FFF2-40B4-BE49-F238E27FC236}">
                  <a16:creationId xmlns:a16="http://schemas.microsoft.com/office/drawing/2014/main" id="{35518B09-79FA-1639-7FA9-DDE7BB528ADE}"/>
                </a:ext>
              </a:extLst>
            </p:cNvPr>
            <p:cNvSpPr/>
            <p:nvPr/>
          </p:nvSpPr>
          <p:spPr>
            <a:xfrm>
              <a:off x="6655726" y="1712016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" name="Shape 6">
              <a:extLst>
                <a:ext uri="{FF2B5EF4-FFF2-40B4-BE49-F238E27FC236}">
                  <a16:creationId xmlns:a16="http://schemas.microsoft.com/office/drawing/2014/main" id="{46934C35-8B99-6879-0B48-60D394FC14F8}"/>
                </a:ext>
              </a:extLst>
            </p:cNvPr>
            <p:cNvSpPr/>
            <p:nvPr/>
          </p:nvSpPr>
          <p:spPr>
            <a:xfrm>
              <a:off x="6735645" y="1712016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" name="Shape 7">
              <a:extLst>
                <a:ext uri="{FF2B5EF4-FFF2-40B4-BE49-F238E27FC236}">
                  <a16:creationId xmlns:a16="http://schemas.microsoft.com/office/drawing/2014/main" id="{B4AD4126-7579-2029-6E23-CD58610070B3}"/>
                </a:ext>
              </a:extLst>
            </p:cNvPr>
            <p:cNvSpPr/>
            <p:nvPr/>
          </p:nvSpPr>
          <p:spPr>
            <a:xfrm>
              <a:off x="6815563" y="1712016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" name="Shape 8">
              <a:extLst>
                <a:ext uri="{FF2B5EF4-FFF2-40B4-BE49-F238E27FC236}">
                  <a16:creationId xmlns:a16="http://schemas.microsoft.com/office/drawing/2014/main" id="{F76D2E0B-651D-022A-D732-9A6CF4D663B9}"/>
                </a:ext>
              </a:extLst>
            </p:cNvPr>
            <p:cNvSpPr/>
            <p:nvPr/>
          </p:nvSpPr>
          <p:spPr>
            <a:xfrm>
              <a:off x="6895482" y="1712016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" name="Shape 9">
              <a:extLst>
                <a:ext uri="{FF2B5EF4-FFF2-40B4-BE49-F238E27FC236}">
                  <a16:creationId xmlns:a16="http://schemas.microsoft.com/office/drawing/2014/main" id="{453CB313-9222-ED25-1B58-80F4074BB7AA}"/>
                </a:ext>
              </a:extLst>
            </p:cNvPr>
            <p:cNvSpPr/>
            <p:nvPr/>
          </p:nvSpPr>
          <p:spPr>
            <a:xfrm>
              <a:off x="6975400" y="1712016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" name="Shape 10">
              <a:extLst>
                <a:ext uri="{FF2B5EF4-FFF2-40B4-BE49-F238E27FC236}">
                  <a16:creationId xmlns:a16="http://schemas.microsoft.com/office/drawing/2014/main" id="{AA22481C-5171-7D54-94DD-0513667DCA4B}"/>
                </a:ext>
              </a:extLst>
            </p:cNvPr>
            <p:cNvSpPr/>
            <p:nvPr/>
          </p:nvSpPr>
          <p:spPr>
            <a:xfrm>
              <a:off x="7055319" y="1712016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" name="Shape 11">
              <a:extLst>
                <a:ext uri="{FF2B5EF4-FFF2-40B4-BE49-F238E27FC236}">
                  <a16:creationId xmlns:a16="http://schemas.microsoft.com/office/drawing/2014/main" id="{6E03C686-E421-4D59-CF44-A134452DC351}"/>
                </a:ext>
              </a:extLst>
            </p:cNvPr>
            <p:cNvSpPr/>
            <p:nvPr/>
          </p:nvSpPr>
          <p:spPr>
            <a:xfrm>
              <a:off x="7135237" y="1712016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" name="Shape 12">
              <a:extLst>
                <a:ext uri="{FF2B5EF4-FFF2-40B4-BE49-F238E27FC236}">
                  <a16:creationId xmlns:a16="http://schemas.microsoft.com/office/drawing/2014/main" id="{1B881B15-AFC6-4E45-F9D8-3AF4430FE08A}"/>
                </a:ext>
              </a:extLst>
            </p:cNvPr>
            <p:cNvSpPr/>
            <p:nvPr/>
          </p:nvSpPr>
          <p:spPr>
            <a:xfrm>
              <a:off x="7215156" y="1712016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" name="Shape 13">
              <a:extLst>
                <a:ext uri="{FF2B5EF4-FFF2-40B4-BE49-F238E27FC236}">
                  <a16:creationId xmlns:a16="http://schemas.microsoft.com/office/drawing/2014/main" id="{F8DEAAD1-DF79-45A4-0E1B-314DABA5ECAE}"/>
                </a:ext>
              </a:extLst>
            </p:cNvPr>
            <p:cNvSpPr/>
            <p:nvPr/>
          </p:nvSpPr>
          <p:spPr>
            <a:xfrm>
              <a:off x="7295074" y="1712016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" name="Shape 14">
              <a:extLst>
                <a:ext uri="{FF2B5EF4-FFF2-40B4-BE49-F238E27FC236}">
                  <a16:creationId xmlns:a16="http://schemas.microsoft.com/office/drawing/2014/main" id="{2FEE14EF-6B8F-3DB6-4693-B3DC9606EB71}"/>
                </a:ext>
              </a:extLst>
            </p:cNvPr>
            <p:cNvSpPr/>
            <p:nvPr/>
          </p:nvSpPr>
          <p:spPr>
            <a:xfrm>
              <a:off x="7374993" y="1712016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" name="Shape 15">
              <a:extLst>
                <a:ext uri="{FF2B5EF4-FFF2-40B4-BE49-F238E27FC236}">
                  <a16:creationId xmlns:a16="http://schemas.microsoft.com/office/drawing/2014/main" id="{187B5FBC-979A-6BD1-0286-BB609C806C71}"/>
                </a:ext>
              </a:extLst>
            </p:cNvPr>
            <p:cNvSpPr/>
            <p:nvPr/>
          </p:nvSpPr>
          <p:spPr>
            <a:xfrm>
              <a:off x="7454912" y="1712016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" name="Shape 16">
              <a:extLst>
                <a:ext uri="{FF2B5EF4-FFF2-40B4-BE49-F238E27FC236}">
                  <a16:creationId xmlns:a16="http://schemas.microsoft.com/office/drawing/2014/main" id="{A3D9F5FF-331A-3DDF-EBE6-7003901F9138}"/>
                </a:ext>
              </a:extLst>
            </p:cNvPr>
            <p:cNvSpPr/>
            <p:nvPr/>
          </p:nvSpPr>
          <p:spPr>
            <a:xfrm>
              <a:off x="6723026" y="1510116"/>
              <a:ext cx="672998" cy="353324"/>
            </a:xfrm>
            <a:prstGeom prst="ellipse">
              <a:avLst/>
            </a:prstGeom>
            <a:solidFill>
              <a:srgbClr val="C7D6E4"/>
            </a:solidFill>
            <a:ln w="12700">
              <a:solidFill>
                <a:schemeClr val="accent1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" name="Shape 17">
              <a:extLst>
                <a:ext uri="{FF2B5EF4-FFF2-40B4-BE49-F238E27FC236}">
                  <a16:creationId xmlns:a16="http://schemas.microsoft.com/office/drawing/2014/main" id="{A6F4B239-86F2-8861-0684-5A5AA7170CF0}"/>
                </a:ext>
              </a:extLst>
            </p:cNvPr>
            <p:cNvSpPr/>
            <p:nvPr/>
          </p:nvSpPr>
          <p:spPr>
            <a:xfrm>
              <a:off x="6790326" y="1375516"/>
              <a:ext cx="538399" cy="286024"/>
            </a:xfrm>
            <a:prstGeom prst="ellipse">
              <a:avLst/>
            </a:prstGeom>
            <a:solidFill>
              <a:srgbClr val="D9E3EC"/>
            </a:solidFill>
            <a:ln w="1270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" name="Shape 15">
              <a:extLst>
                <a:ext uri="{FF2B5EF4-FFF2-40B4-BE49-F238E27FC236}">
                  <a16:creationId xmlns:a16="http://schemas.microsoft.com/office/drawing/2014/main" id="{B2D09E24-3EDE-8287-8D09-D93500B1AF8D}"/>
                </a:ext>
              </a:extLst>
            </p:cNvPr>
            <p:cNvSpPr/>
            <p:nvPr/>
          </p:nvSpPr>
          <p:spPr>
            <a:xfrm>
              <a:off x="7607312" y="1712019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" name="Shape 15">
              <a:extLst>
                <a:ext uri="{FF2B5EF4-FFF2-40B4-BE49-F238E27FC236}">
                  <a16:creationId xmlns:a16="http://schemas.microsoft.com/office/drawing/2014/main" id="{357F33A8-02BF-3381-5220-3F9A0F6D6815}"/>
                </a:ext>
              </a:extLst>
            </p:cNvPr>
            <p:cNvSpPr/>
            <p:nvPr/>
          </p:nvSpPr>
          <p:spPr>
            <a:xfrm>
              <a:off x="7768675" y="1712018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" name="Shape 15">
              <a:extLst>
                <a:ext uri="{FF2B5EF4-FFF2-40B4-BE49-F238E27FC236}">
                  <a16:creationId xmlns:a16="http://schemas.microsoft.com/office/drawing/2014/main" id="{5ED32954-5C45-4127-785F-AB61527029C6}"/>
                </a:ext>
              </a:extLst>
            </p:cNvPr>
            <p:cNvSpPr/>
            <p:nvPr/>
          </p:nvSpPr>
          <p:spPr>
            <a:xfrm>
              <a:off x="7907627" y="1712018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" name="Shape 15">
              <a:extLst>
                <a:ext uri="{FF2B5EF4-FFF2-40B4-BE49-F238E27FC236}">
                  <a16:creationId xmlns:a16="http://schemas.microsoft.com/office/drawing/2014/main" id="{AB3A47D7-669C-F86B-811C-0EA32EAA6272}"/>
                </a:ext>
              </a:extLst>
            </p:cNvPr>
            <p:cNvSpPr/>
            <p:nvPr/>
          </p:nvSpPr>
          <p:spPr>
            <a:xfrm>
              <a:off x="6518097" y="1712708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" name="Shape 15">
              <a:extLst>
                <a:ext uri="{FF2B5EF4-FFF2-40B4-BE49-F238E27FC236}">
                  <a16:creationId xmlns:a16="http://schemas.microsoft.com/office/drawing/2014/main" id="{173B13DB-9739-9D10-7947-9843D45E5205}"/>
                </a:ext>
              </a:extLst>
            </p:cNvPr>
            <p:cNvSpPr/>
            <p:nvPr/>
          </p:nvSpPr>
          <p:spPr>
            <a:xfrm>
              <a:off x="6365698" y="1708228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" name="Shape 15">
              <a:extLst>
                <a:ext uri="{FF2B5EF4-FFF2-40B4-BE49-F238E27FC236}">
                  <a16:creationId xmlns:a16="http://schemas.microsoft.com/office/drawing/2014/main" id="{05CA0162-06D2-8EB9-7ACB-E0666D203EB6}"/>
                </a:ext>
              </a:extLst>
            </p:cNvPr>
            <p:cNvSpPr/>
            <p:nvPr/>
          </p:nvSpPr>
          <p:spPr>
            <a:xfrm>
              <a:off x="6217785" y="1712023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" name="Shape 1"/>
            <p:cNvSpPr/>
            <p:nvPr/>
          </p:nvSpPr>
          <p:spPr>
            <a:xfrm>
              <a:off x="1026815" y="274320"/>
              <a:ext cx="2514600" cy="2514600"/>
            </a:xfrm>
            <a:prstGeom prst="roundRect">
              <a:avLst>
                <a:gd name="adj" fmla="val 2909"/>
              </a:avLst>
            </a:prstGeom>
            <a:solidFill>
              <a:srgbClr val="F3F3F3"/>
            </a:solidFill>
            <a:ln w="10160">
              <a:solidFill>
                <a:srgbClr val="E3E6E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 2"/>
            <p:cNvSpPr/>
            <p:nvPr/>
          </p:nvSpPr>
          <p:spPr>
            <a:xfrm>
              <a:off x="1099967" y="395088"/>
              <a:ext cx="2368296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330" b="1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Original tRNA encounter</a:t>
              </a:r>
              <a:endParaRPr lang="en-US" sz="133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1118255" y="2386584"/>
              <a:ext cx="2331720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ctr">
                <a:buNone/>
              </a:pPr>
              <a:r>
                <a:rPr lang="en-US" sz="95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Many tRNAs compete</a:t>
              </a:r>
              <a:endParaRPr lang="en-US" sz="950" dirty="0"/>
            </a:p>
            <a:p>
              <a:pPr marL="0" indent="0" algn="ctr">
                <a:buNone/>
              </a:pPr>
              <a:r>
                <a:rPr lang="en-US" sz="95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for the ribosome.</a:t>
              </a:r>
              <a:endParaRPr lang="en-US" sz="95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1380566" y="1761858"/>
              <a:ext cx="1913777" cy="0"/>
            </a:xfrm>
            <a:prstGeom prst="line">
              <a:avLst/>
            </a:prstGeom>
            <a:noFill/>
            <a:ln w="1778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Shape 5"/>
            <p:cNvSpPr/>
            <p:nvPr/>
          </p:nvSpPr>
          <p:spPr>
            <a:xfrm>
              <a:off x="1880316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Shape 6"/>
            <p:cNvSpPr/>
            <p:nvPr/>
          </p:nvSpPr>
          <p:spPr>
            <a:xfrm>
              <a:off x="1960235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Shape 7"/>
            <p:cNvSpPr/>
            <p:nvPr/>
          </p:nvSpPr>
          <p:spPr>
            <a:xfrm>
              <a:off x="2040153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Shape 8"/>
            <p:cNvSpPr/>
            <p:nvPr/>
          </p:nvSpPr>
          <p:spPr>
            <a:xfrm>
              <a:off x="2120072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Shape 9"/>
            <p:cNvSpPr/>
            <p:nvPr/>
          </p:nvSpPr>
          <p:spPr>
            <a:xfrm>
              <a:off x="2199990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Shape 10"/>
            <p:cNvSpPr/>
            <p:nvPr/>
          </p:nvSpPr>
          <p:spPr>
            <a:xfrm>
              <a:off x="2279909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Shape 11"/>
            <p:cNvSpPr/>
            <p:nvPr/>
          </p:nvSpPr>
          <p:spPr>
            <a:xfrm>
              <a:off x="2359827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Shape 12"/>
            <p:cNvSpPr/>
            <p:nvPr/>
          </p:nvSpPr>
          <p:spPr>
            <a:xfrm>
              <a:off x="2439746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Shape 13"/>
            <p:cNvSpPr/>
            <p:nvPr/>
          </p:nvSpPr>
          <p:spPr>
            <a:xfrm>
              <a:off x="2519664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Shape 14"/>
            <p:cNvSpPr/>
            <p:nvPr/>
          </p:nvSpPr>
          <p:spPr>
            <a:xfrm>
              <a:off x="2599583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Shape 15"/>
            <p:cNvSpPr/>
            <p:nvPr/>
          </p:nvSpPr>
          <p:spPr>
            <a:xfrm>
              <a:off x="2679502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Shape 16"/>
            <p:cNvSpPr/>
            <p:nvPr/>
          </p:nvSpPr>
          <p:spPr>
            <a:xfrm>
              <a:off x="1947616" y="1509484"/>
              <a:ext cx="672998" cy="353324"/>
            </a:xfrm>
            <a:prstGeom prst="ellipse">
              <a:avLst/>
            </a:prstGeom>
            <a:solidFill>
              <a:srgbClr val="C7D6E4"/>
            </a:solidFill>
            <a:ln w="12700">
              <a:solidFill>
                <a:schemeClr val="accent1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Shape 17"/>
            <p:cNvSpPr/>
            <p:nvPr/>
          </p:nvSpPr>
          <p:spPr>
            <a:xfrm>
              <a:off x="2014916" y="1374884"/>
              <a:ext cx="538399" cy="286024"/>
            </a:xfrm>
            <a:prstGeom prst="ellipse">
              <a:avLst/>
            </a:prstGeom>
            <a:solidFill>
              <a:srgbClr val="D9E3EC"/>
            </a:solidFill>
            <a:ln w="1270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1529735" y="1127265"/>
              <a:ext cx="0" cy="0"/>
            </a:xfrm>
            <a:prstGeom prst="line">
              <a:avLst/>
            </a:prstGeom>
            <a:noFill/>
            <a:ln w="22911">
              <a:solidFill>
                <a:srgbClr val="0072B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Shape 25"/>
            <p:cNvSpPr/>
            <p:nvPr/>
          </p:nvSpPr>
          <p:spPr>
            <a:xfrm>
              <a:off x="2082947" y="935241"/>
              <a:ext cx="0" cy="0"/>
            </a:xfrm>
            <a:prstGeom prst="line">
              <a:avLst/>
            </a:prstGeom>
            <a:noFill/>
            <a:ln w="22911">
              <a:solidFill>
                <a:srgbClr val="0072B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Shape 42"/>
            <p:cNvSpPr/>
            <p:nvPr/>
          </p:nvSpPr>
          <p:spPr>
            <a:xfrm>
              <a:off x="3596279" y="1636037"/>
              <a:ext cx="164592" cy="0"/>
            </a:xfrm>
            <a:prstGeom prst="line">
              <a:avLst/>
            </a:prstGeom>
            <a:noFill/>
            <a:ln w="26670">
              <a:solidFill>
                <a:srgbClr val="5B6570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Shape 43"/>
            <p:cNvSpPr/>
            <p:nvPr/>
          </p:nvSpPr>
          <p:spPr>
            <a:xfrm>
              <a:off x="3779159" y="274320"/>
              <a:ext cx="1874520" cy="2514600"/>
            </a:xfrm>
            <a:prstGeom prst="roundRect">
              <a:avLst>
                <a:gd name="adj" fmla="val 3902"/>
              </a:avLst>
            </a:prstGeom>
            <a:solidFill>
              <a:srgbClr val="E7F3FB"/>
            </a:solidFill>
            <a:ln w="10160">
              <a:solidFill>
                <a:srgbClr val="E3E6E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 44"/>
            <p:cNvSpPr/>
            <p:nvPr/>
          </p:nvSpPr>
          <p:spPr>
            <a:xfrm>
              <a:off x="3852311" y="395088"/>
              <a:ext cx="1728216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330" b="1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Initial selection</a:t>
              </a:r>
              <a:endParaRPr lang="en-US" sz="133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870599" y="2242367"/>
              <a:ext cx="1691640" cy="45511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ctr">
                <a:buNone/>
              </a:pPr>
              <a:r>
                <a:rPr lang="en-US" sz="95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Sets which tRNAs</a:t>
              </a:r>
              <a:endParaRPr lang="en-US" sz="950" dirty="0"/>
            </a:p>
            <a:p>
              <a:pPr marL="0" indent="0" algn="ctr">
                <a:buNone/>
              </a:pPr>
              <a:r>
                <a:rPr lang="en-US" sz="95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reach proofreading</a:t>
              </a:r>
              <a:endParaRPr lang="en-US" sz="9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4341515" y="998152"/>
              <a:ext cx="0" cy="0"/>
            </a:xfrm>
            <a:prstGeom prst="line">
              <a:avLst/>
            </a:prstGeom>
            <a:noFill/>
            <a:ln w="24587">
              <a:solidFill>
                <a:srgbClr val="0072B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Shape 67"/>
            <p:cNvSpPr/>
            <p:nvPr/>
          </p:nvSpPr>
          <p:spPr>
            <a:xfrm>
              <a:off x="5053833" y="1089592"/>
              <a:ext cx="0" cy="0"/>
            </a:xfrm>
            <a:prstGeom prst="line">
              <a:avLst/>
            </a:prstGeom>
            <a:noFill/>
            <a:ln w="24587">
              <a:solidFill>
                <a:srgbClr val="E69F0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Shape 72"/>
            <p:cNvSpPr/>
            <p:nvPr/>
          </p:nvSpPr>
          <p:spPr>
            <a:xfrm>
              <a:off x="5708543" y="1636037"/>
              <a:ext cx="164592" cy="0"/>
            </a:xfrm>
            <a:prstGeom prst="line">
              <a:avLst/>
            </a:prstGeom>
            <a:noFill/>
            <a:ln w="26670">
              <a:solidFill>
                <a:srgbClr val="5B6570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Text 74"/>
            <p:cNvSpPr/>
            <p:nvPr/>
          </p:nvSpPr>
          <p:spPr>
            <a:xfrm>
              <a:off x="5964575" y="395088"/>
              <a:ext cx="2157984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330" b="1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Proofreading</a:t>
              </a:r>
              <a:endParaRPr lang="en-US" sz="1330" dirty="0"/>
            </a:p>
          </p:txBody>
        </p:sp>
        <p:sp>
          <p:nvSpPr>
            <p:cNvPr id="77" name="Text 75"/>
            <p:cNvSpPr/>
            <p:nvPr/>
          </p:nvSpPr>
          <p:spPr>
            <a:xfrm>
              <a:off x="5982863" y="2199399"/>
              <a:ext cx="2121408" cy="5804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Published acceptance</a:t>
              </a:r>
              <a:endParaRPr lang="en-US" sz="900" dirty="0"/>
            </a:p>
            <a:p>
              <a:pPr marL="0" indent="0" algn="ctr">
                <a:buNone/>
              </a:pPr>
              <a:r>
                <a:rPr lang="en-US" sz="9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measurements define local</a:t>
              </a:r>
              <a:endParaRPr lang="en-US" sz="900" dirty="0"/>
            </a:p>
            <a:p>
              <a:pPr marL="0" indent="0" algn="ctr">
                <a:buNone/>
              </a:pPr>
              <a:r>
                <a:rPr lang="en-US" sz="9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information bounds</a:t>
              </a:r>
              <a:endParaRPr lang="en-US" sz="9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350600" y="1065569"/>
              <a:ext cx="41148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820" dirty="0">
                  <a:solidFill>
                    <a:srgbClr val="5B657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Accept</a:t>
              </a:r>
              <a:endParaRPr lang="en-US" sz="82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61496" y="1202729"/>
              <a:ext cx="146304" cy="182880"/>
            </a:xfrm>
            <a:prstGeom prst="line">
              <a:avLst/>
            </a:prstGeom>
            <a:noFill/>
            <a:ln w="12700">
              <a:solidFill>
                <a:srgbClr val="5B6570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 104"/>
            <p:cNvSpPr/>
            <p:nvPr/>
          </p:nvSpPr>
          <p:spPr>
            <a:xfrm>
              <a:off x="7534868" y="1085101"/>
              <a:ext cx="384048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82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Reject</a:t>
              </a:r>
              <a:endParaRPr lang="en-US" sz="82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8250575" y="1636037"/>
              <a:ext cx="164592" cy="0"/>
            </a:xfrm>
            <a:prstGeom prst="line">
              <a:avLst/>
            </a:prstGeom>
            <a:noFill/>
            <a:ln w="26670">
              <a:solidFill>
                <a:srgbClr val="5B6570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Shape 107"/>
            <p:cNvSpPr/>
            <p:nvPr/>
          </p:nvSpPr>
          <p:spPr>
            <a:xfrm>
              <a:off x="8414485" y="285702"/>
              <a:ext cx="2423160" cy="2514600"/>
            </a:xfrm>
            <a:prstGeom prst="roundRect">
              <a:avLst>
                <a:gd name="adj" fmla="val 3019"/>
              </a:avLst>
            </a:prstGeom>
            <a:solidFill>
              <a:srgbClr val="EAF6EA"/>
            </a:solidFill>
            <a:ln w="10160">
              <a:solidFill>
                <a:srgbClr val="E3E6E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Text 108"/>
            <p:cNvSpPr/>
            <p:nvPr/>
          </p:nvSpPr>
          <p:spPr>
            <a:xfrm>
              <a:off x="8506607" y="395088"/>
              <a:ext cx="2276856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330" b="1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Accepted peptide product</a:t>
              </a:r>
              <a:endParaRPr lang="en-US" sz="1330" dirty="0"/>
            </a:p>
          </p:txBody>
        </p:sp>
        <p:sp>
          <p:nvSpPr>
            <p:cNvPr id="111" name="Text 109"/>
            <p:cNvSpPr/>
            <p:nvPr/>
          </p:nvSpPr>
          <p:spPr>
            <a:xfrm>
              <a:off x="8524895" y="2215264"/>
              <a:ext cx="2240280" cy="4822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ctr">
                <a:buNone/>
              </a:pPr>
              <a:r>
                <a:rPr lang="en-US" sz="95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Final output depends</a:t>
              </a:r>
              <a:endParaRPr lang="en-US" sz="950" dirty="0"/>
            </a:p>
            <a:p>
              <a:pPr marL="0" indent="0" algn="ctr">
                <a:buNone/>
              </a:pPr>
              <a:r>
                <a:rPr lang="en-US" sz="95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on both stages</a:t>
              </a:r>
              <a:endParaRPr lang="en-US" sz="9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9673882" y="1146471"/>
              <a:ext cx="118872" cy="118872"/>
            </a:xfrm>
            <a:prstGeom prst="ellipse">
              <a:avLst/>
            </a:prstGeom>
            <a:solidFill>
              <a:srgbClr val="5A8AC6"/>
            </a:solidFill>
            <a:ln w="6350">
              <a:solidFill>
                <a:srgbClr val="6B6B6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Shape 132"/>
            <p:cNvSpPr/>
            <p:nvPr/>
          </p:nvSpPr>
          <p:spPr>
            <a:xfrm>
              <a:off x="9939472" y="968525"/>
              <a:ext cx="18288" cy="0"/>
            </a:xfrm>
            <a:prstGeom prst="line">
              <a:avLst/>
            </a:prstGeom>
            <a:noFill/>
            <a:ln w="10160">
              <a:solidFill>
                <a:srgbClr val="7A7A7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Shape 133"/>
            <p:cNvSpPr/>
            <p:nvPr/>
          </p:nvSpPr>
          <p:spPr>
            <a:xfrm>
              <a:off x="9774466" y="1073319"/>
              <a:ext cx="118872" cy="118872"/>
            </a:xfrm>
            <a:prstGeom prst="ellipse">
              <a:avLst/>
            </a:prstGeom>
            <a:solidFill>
              <a:srgbClr val="F4B350"/>
            </a:solidFill>
            <a:ln w="6350">
              <a:solidFill>
                <a:srgbClr val="6B6B6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Shape 134"/>
            <p:cNvSpPr/>
            <p:nvPr/>
          </p:nvSpPr>
          <p:spPr>
            <a:xfrm>
              <a:off x="10040056" y="895373"/>
              <a:ext cx="18288" cy="0"/>
            </a:xfrm>
            <a:prstGeom prst="line">
              <a:avLst/>
            </a:prstGeom>
            <a:noFill/>
            <a:ln w="10160">
              <a:solidFill>
                <a:srgbClr val="7A7A7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Shape 135"/>
            <p:cNvSpPr/>
            <p:nvPr/>
          </p:nvSpPr>
          <p:spPr>
            <a:xfrm>
              <a:off x="9875050" y="1000167"/>
              <a:ext cx="118872" cy="118872"/>
            </a:xfrm>
            <a:prstGeom prst="ellipse">
              <a:avLst/>
            </a:prstGeom>
            <a:solidFill>
              <a:srgbClr val="E46F61"/>
            </a:solidFill>
            <a:ln w="6350">
              <a:solidFill>
                <a:srgbClr val="6B6B6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Shape 136"/>
            <p:cNvSpPr/>
            <p:nvPr/>
          </p:nvSpPr>
          <p:spPr>
            <a:xfrm>
              <a:off x="10140640" y="822221"/>
              <a:ext cx="18288" cy="0"/>
            </a:xfrm>
            <a:prstGeom prst="line">
              <a:avLst/>
            </a:prstGeom>
            <a:noFill/>
            <a:ln w="10160">
              <a:solidFill>
                <a:srgbClr val="7A7A7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Shape 137"/>
            <p:cNvSpPr/>
            <p:nvPr/>
          </p:nvSpPr>
          <p:spPr>
            <a:xfrm>
              <a:off x="9975634" y="927015"/>
              <a:ext cx="118872" cy="118872"/>
            </a:xfrm>
            <a:prstGeom prst="ellipse">
              <a:avLst/>
            </a:prstGeom>
            <a:solidFill>
              <a:srgbClr val="D84F70"/>
            </a:solidFill>
            <a:ln w="6350">
              <a:solidFill>
                <a:srgbClr val="6B6B6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Shape 138"/>
            <p:cNvSpPr/>
            <p:nvPr/>
          </p:nvSpPr>
          <p:spPr>
            <a:xfrm>
              <a:off x="10241224" y="749069"/>
              <a:ext cx="18288" cy="0"/>
            </a:xfrm>
            <a:prstGeom prst="line">
              <a:avLst/>
            </a:prstGeom>
            <a:noFill/>
            <a:ln w="10160">
              <a:solidFill>
                <a:srgbClr val="7A7A7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Text 140"/>
            <p:cNvSpPr/>
            <p:nvPr/>
          </p:nvSpPr>
          <p:spPr>
            <a:xfrm>
              <a:off x="4455815" y="2852928"/>
              <a:ext cx="164592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14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Cognate Phe-tRNA</a:t>
              </a:r>
              <a:endParaRPr lang="en-US" sz="1140" dirty="0"/>
            </a:p>
          </p:txBody>
        </p:sp>
        <p:sp>
          <p:nvSpPr>
            <p:cNvPr id="144" name="Text 142"/>
            <p:cNvSpPr/>
            <p:nvPr/>
          </p:nvSpPr>
          <p:spPr>
            <a:xfrm>
              <a:off x="6512840" y="2852928"/>
              <a:ext cx="19659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14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Near-cognate Leu-tRNA</a:t>
              </a:r>
              <a:endParaRPr lang="en-US" sz="1140" dirty="0"/>
            </a:p>
          </p:txBody>
        </p:sp>
        <p:sp>
          <p:nvSpPr>
            <p:cNvPr id="207" name="Shape 15">
              <a:extLst>
                <a:ext uri="{FF2B5EF4-FFF2-40B4-BE49-F238E27FC236}">
                  <a16:creationId xmlns:a16="http://schemas.microsoft.com/office/drawing/2014/main" id="{E9E75184-3BFA-E967-2398-8D283AC7B20E}"/>
                </a:ext>
              </a:extLst>
            </p:cNvPr>
            <p:cNvSpPr/>
            <p:nvPr/>
          </p:nvSpPr>
          <p:spPr>
            <a:xfrm>
              <a:off x="2831902" y="1711387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" name="Shape 15">
              <a:extLst>
                <a:ext uri="{FF2B5EF4-FFF2-40B4-BE49-F238E27FC236}">
                  <a16:creationId xmlns:a16="http://schemas.microsoft.com/office/drawing/2014/main" id="{F9C6C274-1C8F-5509-2E0A-E7709010E4A7}"/>
                </a:ext>
              </a:extLst>
            </p:cNvPr>
            <p:cNvSpPr/>
            <p:nvPr/>
          </p:nvSpPr>
          <p:spPr>
            <a:xfrm>
              <a:off x="2993265" y="1711386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" name="Shape 15">
              <a:extLst>
                <a:ext uri="{FF2B5EF4-FFF2-40B4-BE49-F238E27FC236}">
                  <a16:creationId xmlns:a16="http://schemas.microsoft.com/office/drawing/2014/main" id="{EB15C689-5550-5FC6-721F-BB677E61D21D}"/>
                </a:ext>
              </a:extLst>
            </p:cNvPr>
            <p:cNvSpPr/>
            <p:nvPr/>
          </p:nvSpPr>
          <p:spPr>
            <a:xfrm>
              <a:off x="3132217" y="1711386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" name="Shape 15">
              <a:extLst>
                <a:ext uri="{FF2B5EF4-FFF2-40B4-BE49-F238E27FC236}">
                  <a16:creationId xmlns:a16="http://schemas.microsoft.com/office/drawing/2014/main" id="{3B393E98-B5B5-E974-17F9-F2231595E7FC}"/>
                </a:ext>
              </a:extLst>
            </p:cNvPr>
            <p:cNvSpPr/>
            <p:nvPr/>
          </p:nvSpPr>
          <p:spPr>
            <a:xfrm>
              <a:off x="1742687" y="1715870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" name="Shape 15">
              <a:extLst>
                <a:ext uri="{FF2B5EF4-FFF2-40B4-BE49-F238E27FC236}">
                  <a16:creationId xmlns:a16="http://schemas.microsoft.com/office/drawing/2014/main" id="{EBD0C133-B3AE-607F-C872-40A9706ECE50}"/>
                </a:ext>
              </a:extLst>
            </p:cNvPr>
            <p:cNvSpPr/>
            <p:nvPr/>
          </p:nvSpPr>
          <p:spPr>
            <a:xfrm>
              <a:off x="1590288" y="1711390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" name="Shape 15">
              <a:extLst>
                <a:ext uri="{FF2B5EF4-FFF2-40B4-BE49-F238E27FC236}">
                  <a16:creationId xmlns:a16="http://schemas.microsoft.com/office/drawing/2014/main" id="{B71C62BD-19D5-0359-35A0-57A1DDD16F6E}"/>
                </a:ext>
              </a:extLst>
            </p:cNvPr>
            <p:cNvSpPr/>
            <p:nvPr/>
          </p:nvSpPr>
          <p:spPr>
            <a:xfrm>
              <a:off x="1442375" y="1711391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215" name="Picture 214">
              <a:extLst>
                <a:ext uri="{FF2B5EF4-FFF2-40B4-BE49-F238E27FC236}">
                  <a16:creationId xmlns:a16="http://schemas.microsoft.com/office/drawing/2014/main" id="{294CAB5C-7240-64A4-9AC3-02D9245B5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281342" y="1009824"/>
              <a:ext cx="510826" cy="543519"/>
            </a:xfrm>
            <a:prstGeom prst="rect">
              <a:avLst/>
            </a:prstGeom>
            <a:noFill/>
          </p:spPr>
        </p:pic>
        <p:pic>
          <p:nvPicPr>
            <p:cNvPr id="216" name="Picture 215">
              <a:extLst>
                <a:ext uri="{FF2B5EF4-FFF2-40B4-BE49-F238E27FC236}">
                  <a16:creationId xmlns:a16="http://schemas.microsoft.com/office/drawing/2014/main" id="{7F350EF6-F8D2-D085-0835-9FE86BA2B6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670105" y="1870348"/>
              <a:ext cx="482039" cy="512890"/>
            </a:xfrm>
            <a:prstGeom prst="rect">
              <a:avLst/>
            </a:prstGeom>
            <a:noFill/>
          </p:spPr>
        </p:pic>
        <p:pic>
          <p:nvPicPr>
            <p:cNvPr id="217" name="Picture 216">
              <a:extLst>
                <a:ext uri="{FF2B5EF4-FFF2-40B4-BE49-F238E27FC236}">
                  <a16:creationId xmlns:a16="http://schemas.microsoft.com/office/drawing/2014/main" id="{07954190-ADFF-FCF1-BDAF-BF6DF0DF4B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118255" y="2082733"/>
              <a:ext cx="480269" cy="511006"/>
            </a:xfrm>
            <a:prstGeom prst="rect">
              <a:avLst/>
            </a:prstGeom>
            <a:noFill/>
          </p:spPr>
        </p:pic>
        <p:pic>
          <p:nvPicPr>
            <p:cNvPr id="218" name="Picture 217">
              <a:extLst>
                <a:ext uri="{FF2B5EF4-FFF2-40B4-BE49-F238E27FC236}">
                  <a16:creationId xmlns:a16="http://schemas.microsoft.com/office/drawing/2014/main" id="{EAF420EF-79A2-ACE1-499A-2CD81122F50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2637082" y="818412"/>
              <a:ext cx="523000" cy="556472"/>
            </a:xfrm>
            <a:prstGeom prst="rect">
              <a:avLst/>
            </a:prstGeom>
            <a:noFill/>
          </p:spPr>
        </p:pic>
        <p:pic>
          <p:nvPicPr>
            <p:cNvPr id="220" name="Picture 219">
              <a:extLst>
                <a:ext uri="{FF2B5EF4-FFF2-40B4-BE49-F238E27FC236}">
                  <a16:creationId xmlns:a16="http://schemas.microsoft.com/office/drawing/2014/main" id="{0220E802-16E1-65BF-A311-341E1BC24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842991" y="849653"/>
              <a:ext cx="523000" cy="556472"/>
            </a:xfrm>
            <a:prstGeom prst="rect">
              <a:avLst/>
            </a:prstGeom>
            <a:noFill/>
          </p:spPr>
        </p:pic>
        <p:pic>
          <p:nvPicPr>
            <p:cNvPr id="221" name="Picture 220">
              <a:extLst>
                <a:ext uri="{FF2B5EF4-FFF2-40B4-BE49-F238E27FC236}">
                  <a16:creationId xmlns:a16="http://schemas.microsoft.com/office/drawing/2014/main" id="{78991544-89AC-894E-BAA4-C7F06DE6036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-4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4007576" y="849202"/>
              <a:ext cx="510826" cy="543519"/>
            </a:xfrm>
            <a:prstGeom prst="rect">
              <a:avLst/>
            </a:prstGeom>
            <a:noFill/>
          </p:spPr>
        </p:pic>
        <p:sp>
          <p:nvSpPr>
            <p:cNvPr id="222" name="Shape 4">
              <a:extLst>
                <a:ext uri="{FF2B5EF4-FFF2-40B4-BE49-F238E27FC236}">
                  <a16:creationId xmlns:a16="http://schemas.microsoft.com/office/drawing/2014/main" id="{1DF6CDDB-4121-63DA-519A-D436D43CE9EC}"/>
                </a:ext>
              </a:extLst>
            </p:cNvPr>
            <p:cNvSpPr/>
            <p:nvPr/>
          </p:nvSpPr>
          <p:spPr>
            <a:xfrm>
              <a:off x="3806736" y="1761858"/>
              <a:ext cx="1811731" cy="16826"/>
            </a:xfrm>
            <a:prstGeom prst="line">
              <a:avLst/>
            </a:prstGeom>
            <a:noFill/>
            <a:ln w="1778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" name="Shape 5">
              <a:extLst>
                <a:ext uri="{FF2B5EF4-FFF2-40B4-BE49-F238E27FC236}">
                  <a16:creationId xmlns:a16="http://schemas.microsoft.com/office/drawing/2014/main" id="{D01E026C-3047-FAD7-6C23-5A29C92FBD4F}"/>
                </a:ext>
              </a:extLst>
            </p:cNvPr>
            <p:cNvSpPr/>
            <p:nvPr/>
          </p:nvSpPr>
          <p:spPr>
            <a:xfrm>
              <a:off x="4306486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" name="Shape 6">
              <a:extLst>
                <a:ext uri="{FF2B5EF4-FFF2-40B4-BE49-F238E27FC236}">
                  <a16:creationId xmlns:a16="http://schemas.microsoft.com/office/drawing/2014/main" id="{AD2A4A9E-2C42-EE32-53AF-E92B0D86CA67}"/>
                </a:ext>
              </a:extLst>
            </p:cNvPr>
            <p:cNvSpPr/>
            <p:nvPr/>
          </p:nvSpPr>
          <p:spPr>
            <a:xfrm>
              <a:off x="4386405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" name="Shape 7">
              <a:extLst>
                <a:ext uri="{FF2B5EF4-FFF2-40B4-BE49-F238E27FC236}">
                  <a16:creationId xmlns:a16="http://schemas.microsoft.com/office/drawing/2014/main" id="{41DD2CA7-0A96-1505-EFD3-AD96C56586E0}"/>
                </a:ext>
              </a:extLst>
            </p:cNvPr>
            <p:cNvSpPr/>
            <p:nvPr/>
          </p:nvSpPr>
          <p:spPr>
            <a:xfrm>
              <a:off x="4466323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" name="Shape 8">
              <a:extLst>
                <a:ext uri="{FF2B5EF4-FFF2-40B4-BE49-F238E27FC236}">
                  <a16:creationId xmlns:a16="http://schemas.microsoft.com/office/drawing/2014/main" id="{74F79134-6285-2B74-39BB-2EADD4E19D06}"/>
                </a:ext>
              </a:extLst>
            </p:cNvPr>
            <p:cNvSpPr/>
            <p:nvPr/>
          </p:nvSpPr>
          <p:spPr>
            <a:xfrm>
              <a:off x="4546242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" name="Shape 9">
              <a:extLst>
                <a:ext uri="{FF2B5EF4-FFF2-40B4-BE49-F238E27FC236}">
                  <a16:creationId xmlns:a16="http://schemas.microsoft.com/office/drawing/2014/main" id="{B9D74C85-8ADA-7410-AC19-DD0DB1F2458E}"/>
                </a:ext>
              </a:extLst>
            </p:cNvPr>
            <p:cNvSpPr/>
            <p:nvPr/>
          </p:nvSpPr>
          <p:spPr>
            <a:xfrm>
              <a:off x="4626160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" name="Shape 10">
              <a:extLst>
                <a:ext uri="{FF2B5EF4-FFF2-40B4-BE49-F238E27FC236}">
                  <a16:creationId xmlns:a16="http://schemas.microsoft.com/office/drawing/2014/main" id="{804E3C4E-C1DD-A7EE-B942-846B8DBB5C44}"/>
                </a:ext>
              </a:extLst>
            </p:cNvPr>
            <p:cNvSpPr/>
            <p:nvPr/>
          </p:nvSpPr>
          <p:spPr>
            <a:xfrm>
              <a:off x="4706079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" name="Shape 11">
              <a:extLst>
                <a:ext uri="{FF2B5EF4-FFF2-40B4-BE49-F238E27FC236}">
                  <a16:creationId xmlns:a16="http://schemas.microsoft.com/office/drawing/2014/main" id="{9FCC206D-0D0A-63F3-DF16-74C8777BEFFF}"/>
                </a:ext>
              </a:extLst>
            </p:cNvPr>
            <p:cNvSpPr/>
            <p:nvPr/>
          </p:nvSpPr>
          <p:spPr>
            <a:xfrm>
              <a:off x="4785997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" name="Shape 12">
              <a:extLst>
                <a:ext uri="{FF2B5EF4-FFF2-40B4-BE49-F238E27FC236}">
                  <a16:creationId xmlns:a16="http://schemas.microsoft.com/office/drawing/2014/main" id="{24B146A2-A868-E539-4B65-D26B561EBF5E}"/>
                </a:ext>
              </a:extLst>
            </p:cNvPr>
            <p:cNvSpPr/>
            <p:nvPr/>
          </p:nvSpPr>
          <p:spPr>
            <a:xfrm>
              <a:off x="4865916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Shape 13">
              <a:extLst>
                <a:ext uri="{FF2B5EF4-FFF2-40B4-BE49-F238E27FC236}">
                  <a16:creationId xmlns:a16="http://schemas.microsoft.com/office/drawing/2014/main" id="{9548BB58-700F-ABD8-B49A-BE2246F0FD85}"/>
                </a:ext>
              </a:extLst>
            </p:cNvPr>
            <p:cNvSpPr/>
            <p:nvPr/>
          </p:nvSpPr>
          <p:spPr>
            <a:xfrm>
              <a:off x="4945834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" name="Shape 14">
              <a:extLst>
                <a:ext uri="{FF2B5EF4-FFF2-40B4-BE49-F238E27FC236}">
                  <a16:creationId xmlns:a16="http://schemas.microsoft.com/office/drawing/2014/main" id="{5C2235E9-DA1E-EAC0-83BB-01A13B197B6D}"/>
                </a:ext>
              </a:extLst>
            </p:cNvPr>
            <p:cNvSpPr/>
            <p:nvPr/>
          </p:nvSpPr>
          <p:spPr>
            <a:xfrm>
              <a:off x="5025753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" name="Shape 15">
              <a:extLst>
                <a:ext uri="{FF2B5EF4-FFF2-40B4-BE49-F238E27FC236}">
                  <a16:creationId xmlns:a16="http://schemas.microsoft.com/office/drawing/2014/main" id="{8E4C62E6-DBA4-8B89-5975-46951EF26954}"/>
                </a:ext>
              </a:extLst>
            </p:cNvPr>
            <p:cNvSpPr/>
            <p:nvPr/>
          </p:nvSpPr>
          <p:spPr>
            <a:xfrm>
              <a:off x="5105672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" name="Shape 16">
              <a:extLst>
                <a:ext uri="{FF2B5EF4-FFF2-40B4-BE49-F238E27FC236}">
                  <a16:creationId xmlns:a16="http://schemas.microsoft.com/office/drawing/2014/main" id="{7580BBF5-DCBE-6171-394E-2C123AEC88A3}"/>
                </a:ext>
              </a:extLst>
            </p:cNvPr>
            <p:cNvSpPr/>
            <p:nvPr/>
          </p:nvSpPr>
          <p:spPr>
            <a:xfrm>
              <a:off x="4373786" y="1509484"/>
              <a:ext cx="672998" cy="353324"/>
            </a:xfrm>
            <a:prstGeom prst="ellipse">
              <a:avLst/>
            </a:prstGeom>
            <a:solidFill>
              <a:srgbClr val="C7D6E4"/>
            </a:solidFill>
            <a:ln w="12700">
              <a:solidFill>
                <a:schemeClr val="accent1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" name="Shape 17">
              <a:extLst>
                <a:ext uri="{FF2B5EF4-FFF2-40B4-BE49-F238E27FC236}">
                  <a16:creationId xmlns:a16="http://schemas.microsoft.com/office/drawing/2014/main" id="{9473EDFD-6DB3-3F03-7EDA-9E113EDD614F}"/>
                </a:ext>
              </a:extLst>
            </p:cNvPr>
            <p:cNvSpPr/>
            <p:nvPr/>
          </p:nvSpPr>
          <p:spPr>
            <a:xfrm>
              <a:off x="4441086" y="1374884"/>
              <a:ext cx="538399" cy="286024"/>
            </a:xfrm>
            <a:prstGeom prst="ellipse">
              <a:avLst/>
            </a:prstGeom>
            <a:solidFill>
              <a:srgbClr val="D9E3EC"/>
            </a:solidFill>
            <a:ln w="1270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" name="Shape 15">
              <a:extLst>
                <a:ext uri="{FF2B5EF4-FFF2-40B4-BE49-F238E27FC236}">
                  <a16:creationId xmlns:a16="http://schemas.microsoft.com/office/drawing/2014/main" id="{DA9F3EBC-FDC4-95A6-EEDF-14E1334B9B99}"/>
                </a:ext>
              </a:extLst>
            </p:cNvPr>
            <p:cNvSpPr/>
            <p:nvPr/>
          </p:nvSpPr>
          <p:spPr>
            <a:xfrm>
              <a:off x="5258072" y="1711387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" name="Shape 15">
              <a:extLst>
                <a:ext uri="{FF2B5EF4-FFF2-40B4-BE49-F238E27FC236}">
                  <a16:creationId xmlns:a16="http://schemas.microsoft.com/office/drawing/2014/main" id="{DF10A33A-5919-D893-F906-495F4DB8C1DB}"/>
                </a:ext>
              </a:extLst>
            </p:cNvPr>
            <p:cNvSpPr/>
            <p:nvPr/>
          </p:nvSpPr>
          <p:spPr>
            <a:xfrm>
              <a:off x="5419435" y="1711386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" name="Shape 15">
              <a:extLst>
                <a:ext uri="{FF2B5EF4-FFF2-40B4-BE49-F238E27FC236}">
                  <a16:creationId xmlns:a16="http://schemas.microsoft.com/office/drawing/2014/main" id="{4D06292C-56A2-77C9-70DD-3F257DEC1822}"/>
                </a:ext>
              </a:extLst>
            </p:cNvPr>
            <p:cNvSpPr/>
            <p:nvPr/>
          </p:nvSpPr>
          <p:spPr>
            <a:xfrm>
              <a:off x="5558387" y="1711386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" name="Shape 15">
              <a:extLst>
                <a:ext uri="{FF2B5EF4-FFF2-40B4-BE49-F238E27FC236}">
                  <a16:creationId xmlns:a16="http://schemas.microsoft.com/office/drawing/2014/main" id="{2405608D-A943-9425-1043-78B9507504AE}"/>
                </a:ext>
              </a:extLst>
            </p:cNvPr>
            <p:cNvSpPr/>
            <p:nvPr/>
          </p:nvSpPr>
          <p:spPr>
            <a:xfrm>
              <a:off x="4168857" y="1712076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" name="Shape 15">
              <a:extLst>
                <a:ext uri="{FF2B5EF4-FFF2-40B4-BE49-F238E27FC236}">
                  <a16:creationId xmlns:a16="http://schemas.microsoft.com/office/drawing/2014/main" id="{675528B4-2880-4494-D95D-58A3DB7F6B6B}"/>
                </a:ext>
              </a:extLst>
            </p:cNvPr>
            <p:cNvSpPr/>
            <p:nvPr/>
          </p:nvSpPr>
          <p:spPr>
            <a:xfrm>
              <a:off x="4016458" y="1707596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" name="Shape 15">
              <a:extLst>
                <a:ext uri="{FF2B5EF4-FFF2-40B4-BE49-F238E27FC236}">
                  <a16:creationId xmlns:a16="http://schemas.microsoft.com/office/drawing/2014/main" id="{A6731F22-0EC2-4104-AC36-D13B9CCC835C}"/>
                </a:ext>
              </a:extLst>
            </p:cNvPr>
            <p:cNvSpPr/>
            <p:nvPr/>
          </p:nvSpPr>
          <p:spPr>
            <a:xfrm>
              <a:off x="3868545" y="1711391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243" name="Picture 242">
              <a:extLst>
                <a:ext uri="{FF2B5EF4-FFF2-40B4-BE49-F238E27FC236}">
                  <a16:creationId xmlns:a16="http://schemas.microsoft.com/office/drawing/2014/main" id="{EBAF0592-5B50-6EDF-D429-8CCAEBAFF09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7494784" y="888087"/>
              <a:ext cx="510826" cy="543519"/>
            </a:xfrm>
            <a:prstGeom prst="rect">
              <a:avLst/>
            </a:prstGeom>
            <a:noFill/>
          </p:spPr>
        </p:pic>
        <p:pic>
          <p:nvPicPr>
            <p:cNvPr id="244" name="Picture 243">
              <a:extLst>
                <a:ext uri="{FF2B5EF4-FFF2-40B4-BE49-F238E27FC236}">
                  <a16:creationId xmlns:a16="http://schemas.microsoft.com/office/drawing/2014/main" id="{651EADD0-9F3F-B650-E5FF-A567BAF073C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-4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6800822" y="1225230"/>
              <a:ext cx="523000" cy="556472"/>
            </a:xfrm>
            <a:prstGeom prst="rect">
              <a:avLst/>
            </a:prstGeom>
            <a:noFill/>
          </p:spPr>
        </p:pic>
        <p:sp>
          <p:nvSpPr>
            <p:cNvPr id="246" name="Shape 130">
              <a:extLst>
                <a:ext uri="{FF2B5EF4-FFF2-40B4-BE49-F238E27FC236}">
                  <a16:creationId xmlns:a16="http://schemas.microsoft.com/office/drawing/2014/main" id="{2E99C32F-5661-40E3-C974-7F32B2321FE6}"/>
                </a:ext>
              </a:extLst>
            </p:cNvPr>
            <p:cNvSpPr/>
            <p:nvPr/>
          </p:nvSpPr>
          <p:spPr>
            <a:xfrm>
              <a:off x="6963465" y="1191852"/>
              <a:ext cx="118872" cy="118872"/>
            </a:xfrm>
            <a:prstGeom prst="ellipse">
              <a:avLst/>
            </a:prstGeom>
            <a:solidFill>
              <a:srgbClr val="7B61A8"/>
            </a:solidFill>
            <a:ln w="6350">
              <a:solidFill>
                <a:srgbClr val="6B6B6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" name="Shape 130">
              <a:extLst>
                <a:ext uri="{FF2B5EF4-FFF2-40B4-BE49-F238E27FC236}">
                  <a16:creationId xmlns:a16="http://schemas.microsoft.com/office/drawing/2014/main" id="{806AEF98-D67C-B49C-A7B3-AC0990C376BE}"/>
                </a:ext>
              </a:extLst>
            </p:cNvPr>
            <p:cNvSpPr/>
            <p:nvPr/>
          </p:nvSpPr>
          <p:spPr>
            <a:xfrm>
              <a:off x="4969251" y="822221"/>
              <a:ext cx="118872" cy="118872"/>
            </a:xfrm>
            <a:prstGeom prst="ellipse">
              <a:avLst/>
            </a:prstGeom>
            <a:solidFill>
              <a:srgbClr val="7B61A8"/>
            </a:solidFill>
            <a:ln w="6350">
              <a:solidFill>
                <a:srgbClr val="6B6B6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" name="Shape 135">
              <a:extLst>
                <a:ext uri="{FF2B5EF4-FFF2-40B4-BE49-F238E27FC236}">
                  <a16:creationId xmlns:a16="http://schemas.microsoft.com/office/drawing/2014/main" id="{05D54A44-D2BD-C37F-1880-576CAC60087C}"/>
                </a:ext>
              </a:extLst>
            </p:cNvPr>
            <p:cNvSpPr/>
            <p:nvPr/>
          </p:nvSpPr>
          <p:spPr>
            <a:xfrm>
              <a:off x="7650120" y="851113"/>
              <a:ext cx="118872" cy="118872"/>
            </a:xfrm>
            <a:prstGeom prst="ellipse">
              <a:avLst/>
            </a:prstGeom>
            <a:solidFill>
              <a:srgbClr val="E46F61"/>
            </a:solidFill>
            <a:ln w="6350">
              <a:solidFill>
                <a:srgbClr val="6B6B6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" name="Shape 135">
              <a:extLst>
                <a:ext uri="{FF2B5EF4-FFF2-40B4-BE49-F238E27FC236}">
                  <a16:creationId xmlns:a16="http://schemas.microsoft.com/office/drawing/2014/main" id="{4D1150CD-C30C-4D9B-2F92-66588AD86027}"/>
                </a:ext>
              </a:extLst>
            </p:cNvPr>
            <p:cNvSpPr/>
            <p:nvPr/>
          </p:nvSpPr>
          <p:spPr>
            <a:xfrm>
              <a:off x="1433392" y="995957"/>
              <a:ext cx="118872" cy="118872"/>
            </a:xfrm>
            <a:prstGeom prst="ellipse">
              <a:avLst/>
            </a:prstGeom>
            <a:solidFill>
              <a:srgbClr val="E46F61"/>
            </a:solidFill>
            <a:ln w="6350">
              <a:solidFill>
                <a:srgbClr val="6B6B6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" name="Shape 135">
              <a:extLst>
                <a:ext uri="{FF2B5EF4-FFF2-40B4-BE49-F238E27FC236}">
                  <a16:creationId xmlns:a16="http://schemas.microsoft.com/office/drawing/2014/main" id="{7007FD95-1656-FE08-29CE-31270E064C06}"/>
                </a:ext>
              </a:extLst>
            </p:cNvPr>
            <p:cNvSpPr/>
            <p:nvPr/>
          </p:nvSpPr>
          <p:spPr>
            <a:xfrm>
              <a:off x="4137312" y="803324"/>
              <a:ext cx="118872" cy="118872"/>
            </a:xfrm>
            <a:prstGeom prst="ellipse">
              <a:avLst/>
            </a:prstGeom>
            <a:solidFill>
              <a:srgbClr val="E46F61"/>
            </a:solidFill>
            <a:ln w="6350">
              <a:solidFill>
                <a:srgbClr val="6B6B6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" name="Shape 135">
              <a:extLst>
                <a:ext uri="{FF2B5EF4-FFF2-40B4-BE49-F238E27FC236}">
                  <a16:creationId xmlns:a16="http://schemas.microsoft.com/office/drawing/2014/main" id="{191F1C92-6714-901D-D4F6-12368D1CD996}"/>
                </a:ext>
              </a:extLst>
            </p:cNvPr>
            <p:cNvSpPr/>
            <p:nvPr/>
          </p:nvSpPr>
          <p:spPr>
            <a:xfrm>
              <a:off x="1261694" y="2014233"/>
              <a:ext cx="118872" cy="118872"/>
            </a:xfrm>
            <a:prstGeom prst="ellipse">
              <a:avLst/>
            </a:prstGeom>
            <a:solidFill>
              <a:srgbClr val="E46F61"/>
            </a:solidFill>
            <a:ln w="6350">
              <a:solidFill>
                <a:srgbClr val="6B6B6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" name="Shape 135">
              <a:extLst>
                <a:ext uri="{FF2B5EF4-FFF2-40B4-BE49-F238E27FC236}">
                  <a16:creationId xmlns:a16="http://schemas.microsoft.com/office/drawing/2014/main" id="{612DE063-7502-32C4-9F50-83206960ABF4}"/>
                </a:ext>
              </a:extLst>
            </p:cNvPr>
            <p:cNvSpPr/>
            <p:nvPr/>
          </p:nvSpPr>
          <p:spPr>
            <a:xfrm>
              <a:off x="1772501" y="1771803"/>
              <a:ext cx="118872" cy="118872"/>
            </a:xfrm>
            <a:prstGeom prst="ellipse">
              <a:avLst/>
            </a:prstGeom>
            <a:solidFill>
              <a:srgbClr val="E46F61"/>
            </a:solidFill>
            <a:ln w="6350">
              <a:solidFill>
                <a:srgbClr val="6B6B6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" name="Shape 130">
              <a:extLst>
                <a:ext uri="{FF2B5EF4-FFF2-40B4-BE49-F238E27FC236}">
                  <a16:creationId xmlns:a16="http://schemas.microsoft.com/office/drawing/2014/main" id="{E065E9DC-CC89-BBEC-908B-A40BFB904A92}"/>
                </a:ext>
              </a:extLst>
            </p:cNvPr>
            <p:cNvSpPr/>
            <p:nvPr/>
          </p:nvSpPr>
          <p:spPr>
            <a:xfrm>
              <a:off x="2797551" y="796761"/>
              <a:ext cx="118872" cy="118872"/>
            </a:xfrm>
            <a:prstGeom prst="ellipse">
              <a:avLst/>
            </a:prstGeom>
            <a:solidFill>
              <a:srgbClr val="7B61A8"/>
            </a:solidFill>
            <a:ln w="6350">
              <a:solidFill>
                <a:srgbClr val="6B6B6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" name="Shape 130">
              <a:extLst>
                <a:ext uri="{FF2B5EF4-FFF2-40B4-BE49-F238E27FC236}">
                  <a16:creationId xmlns:a16="http://schemas.microsoft.com/office/drawing/2014/main" id="{EB0DDD03-02C5-C2E8-F069-94EF7D247052}"/>
                </a:ext>
              </a:extLst>
            </p:cNvPr>
            <p:cNvSpPr/>
            <p:nvPr/>
          </p:nvSpPr>
          <p:spPr>
            <a:xfrm>
              <a:off x="4254647" y="2907792"/>
              <a:ext cx="118872" cy="118872"/>
            </a:xfrm>
            <a:prstGeom prst="ellipse">
              <a:avLst/>
            </a:prstGeom>
            <a:solidFill>
              <a:srgbClr val="7B61A8"/>
            </a:solidFill>
            <a:ln w="6350">
              <a:solidFill>
                <a:srgbClr val="6B6B6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" name="Shape 4">
              <a:extLst>
                <a:ext uri="{FF2B5EF4-FFF2-40B4-BE49-F238E27FC236}">
                  <a16:creationId xmlns:a16="http://schemas.microsoft.com/office/drawing/2014/main" id="{3A76921A-CC53-1D97-AA51-8755D8CFDAE4}"/>
                </a:ext>
              </a:extLst>
            </p:cNvPr>
            <p:cNvSpPr/>
            <p:nvPr/>
          </p:nvSpPr>
          <p:spPr>
            <a:xfrm>
              <a:off x="8744251" y="1774504"/>
              <a:ext cx="1811731" cy="16826"/>
            </a:xfrm>
            <a:prstGeom prst="line">
              <a:avLst/>
            </a:prstGeom>
            <a:noFill/>
            <a:ln w="1778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4" name="Shape 15">
              <a:extLst>
                <a:ext uri="{FF2B5EF4-FFF2-40B4-BE49-F238E27FC236}">
                  <a16:creationId xmlns:a16="http://schemas.microsoft.com/office/drawing/2014/main" id="{6E36E17B-1D63-7EB5-0421-7B05A562BF56}"/>
                </a:ext>
              </a:extLst>
            </p:cNvPr>
            <p:cNvSpPr/>
            <p:nvPr/>
          </p:nvSpPr>
          <p:spPr>
            <a:xfrm>
              <a:off x="9106372" y="1720928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5" name="Shape 15">
              <a:extLst>
                <a:ext uri="{FF2B5EF4-FFF2-40B4-BE49-F238E27FC236}">
                  <a16:creationId xmlns:a16="http://schemas.microsoft.com/office/drawing/2014/main" id="{BC723697-13D6-EC0C-C820-13B54307ADE3}"/>
                </a:ext>
              </a:extLst>
            </p:cNvPr>
            <p:cNvSpPr/>
            <p:nvPr/>
          </p:nvSpPr>
          <p:spPr>
            <a:xfrm>
              <a:off x="8953973" y="1716448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6" name="Shape 15">
              <a:extLst>
                <a:ext uri="{FF2B5EF4-FFF2-40B4-BE49-F238E27FC236}">
                  <a16:creationId xmlns:a16="http://schemas.microsoft.com/office/drawing/2014/main" id="{45E8BA4D-4949-B7B4-49ED-DBA41AF4BA00}"/>
                </a:ext>
              </a:extLst>
            </p:cNvPr>
            <p:cNvSpPr/>
            <p:nvPr/>
          </p:nvSpPr>
          <p:spPr>
            <a:xfrm>
              <a:off x="8806060" y="1720243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Shape 111"/>
            <p:cNvSpPr/>
            <p:nvPr/>
          </p:nvSpPr>
          <p:spPr>
            <a:xfrm>
              <a:off x="9241236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" name="Shape 112"/>
            <p:cNvSpPr/>
            <p:nvPr/>
          </p:nvSpPr>
          <p:spPr>
            <a:xfrm>
              <a:off x="9321155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Shape 113"/>
            <p:cNvSpPr/>
            <p:nvPr/>
          </p:nvSpPr>
          <p:spPr>
            <a:xfrm>
              <a:off x="9401073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Shape 114"/>
            <p:cNvSpPr/>
            <p:nvPr/>
          </p:nvSpPr>
          <p:spPr>
            <a:xfrm>
              <a:off x="9480992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" name="Shape 115"/>
            <p:cNvSpPr/>
            <p:nvPr/>
          </p:nvSpPr>
          <p:spPr>
            <a:xfrm>
              <a:off x="9560910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Shape 116"/>
            <p:cNvSpPr/>
            <p:nvPr/>
          </p:nvSpPr>
          <p:spPr>
            <a:xfrm>
              <a:off x="9640829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Shape 117"/>
            <p:cNvSpPr/>
            <p:nvPr/>
          </p:nvSpPr>
          <p:spPr>
            <a:xfrm>
              <a:off x="9720747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Shape 118"/>
            <p:cNvSpPr/>
            <p:nvPr/>
          </p:nvSpPr>
          <p:spPr>
            <a:xfrm>
              <a:off x="9800666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Shape 119"/>
            <p:cNvSpPr/>
            <p:nvPr/>
          </p:nvSpPr>
          <p:spPr>
            <a:xfrm>
              <a:off x="9880584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Shape 120"/>
            <p:cNvSpPr/>
            <p:nvPr/>
          </p:nvSpPr>
          <p:spPr>
            <a:xfrm>
              <a:off x="9960503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Shape 121"/>
            <p:cNvSpPr/>
            <p:nvPr/>
          </p:nvSpPr>
          <p:spPr>
            <a:xfrm>
              <a:off x="10040422" y="1711384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Shape 122"/>
            <p:cNvSpPr/>
            <p:nvPr/>
          </p:nvSpPr>
          <p:spPr>
            <a:xfrm>
              <a:off x="9308536" y="1509484"/>
              <a:ext cx="672998" cy="353324"/>
            </a:xfrm>
            <a:prstGeom prst="ellipse">
              <a:avLst/>
            </a:prstGeom>
            <a:solidFill>
              <a:srgbClr val="C7D6E4"/>
            </a:solidFill>
            <a:ln w="1778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Shape 123"/>
            <p:cNvSpPr/>
            <p:nvPr/>
          </p:nvSpPr>
          <p:spPr>
            <a:xfrm>
              <a:off x="9375836" y="1374884"/>
              <a:ext cx="538399" cy="286024"/>
            </a:xfrm>
            <a:prstGeom prst="ellipse">
              <a:avLst/>
            </a:prstGeom>
            <a:solidFill>
              <a:srgbClr val="D9E3EC"/>
            </a:solidFill>
            <a:ln w="1778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245" name="Picture 244">
              <a:extLst>
                <a:ext uri="{FF2B5EF4-FFF2-40B4-BE49-F238E27FC236}">
                  <a16:creationId xmlns:a16="http://schemas.microsoft.com/office/drawing/2014/main" id="{3347E2BE-CA96-0F31-C5A4-26B07709F6F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9394534" y="1246566"/>
              <a:ext cx="523000" cy="556472"/>
            </a:xfrm>
            <a:prstGeom prst="rect">
              <a:avLst/>
            </a:prstGeom>
            <a:noFill/>
          </p:spPr>
        </p:pic>
        <p:sp>
          <p:nvSpPr>
            <p:cNvPr id="291" name="Shape 15">
              <a:extLst>
                <a:ext uri="{FF2B5EF4-FFF2-40B4-BE49-F238E27FC236}">
                  <a16:creationId xmlns:a16="http://schemas.microsoft.com/office/drawing/2014/main" id="{BC3CF981-70BA-644B-B2B3-C35DBA197B90}"/>
                </a:ext>
              </a:extLst>
            </p:cNvPr>
            <p:cNvSpPr/>
            <p:nvPr/>
          </p:nvSpPr>
          <p:spPr>
            <a:xfrm>
              <a:off x="10195587" y="1720239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2" name="Shape 15">
              <a:extLst>
                <a:ext uri="{FF2B5EF4-FFF2-40B4-BE49-F238E27FC236}">
                  <a16:creationId xmlns:a16="http://schemas.microsoft.com/office/drawing/2014/main" id="{D56C4059-3960-73CE-FE3D-FB23D221B3E7}"/>
                </a:ext>
              </a:extLst>
            </p:cNvPr>
            <p:cNvSpPr/>
            <p:nvPr/>
          </p:nvSpPr>
          <p:spPr>
            <a:xfrm>
              <a:off x="10356950" y="1720238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3" name="Shape 15">
              <a:extLst>
                <a:ext uri="{FF2B5EF4-FFF2-40B4-BE49-F238E27FC236}">
                  <a16:creationId xmlns:a16="http://schemas.microsoft.com/office/drawing/2014/main" id="{20E9282E-9C1C-F600-AE98-8547C021C98C}"/>
                </a:ext>
              </a:extLst>
            </p:cNvPr>
            <p:cNvSpPr/>
            <p:nvPr/>
          </p:nvSpPr>
          <p:spPr>
            <a:xfrm>
              <a:off x="10495902" y="1720238"/>
              <a:ext cx="0" cy="67300"/>
            </a:xfrm>
            <a:prstGeom prst="line">
              <a:avLst/>
            </a:prstGeom>
            <a:noFill/>
            <a:ln w="11430">
              <a:solidFill>
                <a:srgbClr val="617B9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Shape 130"/>
            <p:cNvSpPr/>
            <p:nvPr/>
          </p:nvSpPr>
          <p:spPr>
            <a:xfrm>
              <a:off x="9569504" y="1223417"/>
              <a:ext cx="118872" cy="118872"/>
            </a:xfrm>
            <a:prstGeom prst="ellipse">
              <a:avLst/>
            </a:prstGeom>
            <a:solidFill>
              <a:srgbClr val="7B61A8"/>
            </a:solidFill>
            <a:ln w="6350">
              <a:solidFill>
                <a:srgbClr val="6B6B6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9" name="Shape 135">
              <a:extLst>
                <a:ext uri="{FF2B5EF4-FFF2-40B4-BE49-F238E27FC236}">
                  <a16:creationId xmlns:a16="http://schemas.microsoft.com/office/drawing/2014/main" id="{2C2B5166-9C0B-E49D-29CF-A00E73FCE3E2}"/>
                </a:ext>
              </a:extLst>
            </p:cNvPr>
            <p:cNvSpPr/>
            <p:nvPr/>
          </p:nvSpPr>
          <p:spPr>
            <a:xfrm>
              <a:off x="6328632" y="2905272"/>
              <a:ext cx="118872" cy="118872"/>
            </a:xfrm>
            <a:prstGeom prst="ellipse">
              <a:avLst/>
            </a:prstGeom>
            <a:solidFill>
              <a:srgbClr val="E46F61"/>
            </a:solidFill>
            <a:ln w="6350">
              <a:solidFill>
                <a:srgbClr val="6B6B6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00" name="Picture 299">
              <a:extLst>
                <a:ext uri="{FF2B5EF4-FFF2-40B4-BE49-F238E27FC236}">
                  <a16:creationId xmlns:a16="http://schemas.microsoft.com/office/drawing/2014/main" id="{8BB79BE8-D4B9-75E8-C7DA-5108F4C6BF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2908554" y="1951799"/>
              <a:ext cx="523000" cy="556472"/>
            </a:xfrm>
            <a:prstGeom prst="rect">
              <a:avLst/>
            </a:prstGeom>
            <a:noFill/>
          </p:spPr>
        </p:pic>
        <p:sp>
          <p:nvSpPr>
            <p:cNvPr id="301" name="Shape 130">
              <a:extLst>
                <a:ext uri="{FF2B5EF4-FFF2-40B4-BE49-F238E27FC236}">
                  <a16:creationId xmlns:a16="http://schemas.microsoft.com/office/drawing/2014/main" id="{7D587A31-4A7A-0FA3-0910-83569D37BD74}"/>
                </a:ext>
              </a:extLst>
            </p:cNvPr>
            <p:cNvSpPr/>
            <p:nvPr/>
          </p:nvSpPr>
          <p:spPr>
            <a:xfrm>
              <a:off x="3069023" y="1930148"/>
              <a:ext cx="118872" cy="118872"/>
            </a:xfrm>
            <a:prstGeom prst="ellipse">
              <a:avLst/>
            </a:prstGeom>
            <a:solidFill>
              <a:srgbClr val="7B61A8"/>
            </a:solidFill>
            <a:ln w="6350">
              <a:solidFill>
                <a:srgbClr val="6B6B6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02" name="Picture 301">
              <a:extLst>
                <a:ext uri="{FF2B5EF4-FFF2-40B4-BE49-F238E27FC236}">
                  <a16:creationId xmlns:a16="http://schemas.microsoft.com/office/drawing/2014/main" id="{8C3D2028-8E40-A8AE-53C2-AFCE46CF73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874525" y="706637"/>
              <a:ext cx="523000" cy="556472"/>
            </a:xfrm>
            <a:prstGeom prst="rect">
              <a:avLst/>
            </a:prstGeom>
            <a:noFill/>
          </p:spPr>
        </p:pic>
        <p:sp>
          <p:nvSpPr>
            <p:cNvPr id="303" name="Shape 130">
              <a:extLst>
                <a:ext uri="{FF2B5EF4-FFF2-40B4-BE49-F238E27FC236}">
                  <a16:creationId xmlns:a16="http://schemas.microsoft.com/office/drawing/2014/main" id="{171638F6-3368-F9B6-640D-5FA48F49FE26}"/>
                </a:ext>
              </a:extLst>
            </p:cNvPr>
            <p:cNvSpPr/>
            <p:nvPr/>
          </p:nvSpPr>
          <p:spPr>
            <a:xfrm>
              <a:off x="2034994" y="684986"/>
              <a:ext cx="118872" cy="118872"/>
            </a:xfrm>
            <a:prstGeom prst="ellipse">
              <a:avLst/>
            </a:prstGeom>
            <a:solidFill>
              <a:srgbClr val="7B61A8"/>
            </a:solidFill>
            <a:ln w="6350">
              <a:solidFill>
                <a:srgbClr val="6B6B6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305" name="Picture 304">
            <a:extLst>
              <a:ext uri="{FF2B5EF4-FFF2-40B4-BE49-F238E27FC236}">
                <a16:creationId xmlns:a16="http://schemas.microsoft.com/office/drawing/2014/main" id="{88182B5B-A372-0364-84B5-5E2679DFEA9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9946"/>
          <a:stretch>
            <a:fillRect/>
          </a:stretch>
        </p:blipFill>
        <p:spPr>
          <a:xfrm>
            <a:off x="285132" y="3570463"/>
            <a:ext cx="5737516" cy="3917921"/>
          </a:xfrm>
          <a:prstGeom prst="rect">
            <a:avLst/>
          </a:prstGeom>
        </p:spPr>
      </p:pic>
      <p:pic>
        <p:nvPicPr>
          <p:cNvPr id="307" name="Picture 306">
            <a:extLst>
              <a:ext uri="{FF2B5EF4-FFF2-40B4-BE49-F238E27FC236}">
                <a16:creationId xmlns:a16="http://schemas.microsoft.com/office/drawing/2014/main" id="{047C6390-0971-8290-4B3C-ED1BBD10672A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b="11936"/>
          <a:stretch>
            <a:fillRect/>
          </a:stretch>
        </p:blipFill>
        <p:spPr>
          <a:xfrm>
            <a:off x="6358469" y="3570463"/>
            <a:ext cx="5583416" cy="386937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251459" y="204947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102</Words>
  <Application>Microsoft Macintosh PowerPoint</Application>
  <PresentationFormat>Custom</PresentationFormat>
  <Paragraphs>23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>Children's Hospital of Philadelphia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BICS Figure 2 - Ribosomal tRNA selection</dc:title>
  <dc:subject>Editable assembly source for BICS Figure 2</dc:subject>
  <dc:creator>Deanne M. Taylor</dc:creator>
  <cp:lastModifiedBy>Taylor, Deanne M</cp:lastModifiedBy>
  <cp:revision>3</cp:revision>
  <dcterms:created xsi:type="dcterms:W3CDTF">2026-10-09T18:20:58Z</dcterms:created>
  <dcterms:modified xsi:type="dcterms:W3CDTF">2026-10-09T19:43:26Z</dcterms:modified>
</cp:coreProperties>
</file>